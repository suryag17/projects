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00" b="0" i="0">
                <a:solidFill>
                  <a:srgbClr val="0E2F5E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00" b="0" i="0">
                <a:solidFill>
                  <a:srgbClr val="0E2F5E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00" b="0" i="0">
                <a:solidFill>
                  <a:srgbClr val="0E2F5E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00" b="0" i="0">
                <a:solidFill>
                  <a:srgbClr val="0E2F5E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9169" y="-61976"/>
            <a:ext cx="14419915" cy="1328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00" b="0" i="0">
                <a:solidFill>
                  <a:srgbClr val="0E2F5E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jpg"/><Relationship Id="rId20" Type="http://schemas.openxmlformats.org/officeDocument/2006/relationships/image" Target="../media/image19.jpg"/><Relationship Id="rId21" Type="http://schemas.openxmlformats.org/officeDocument/2006/relationships/image" Target="../media/image20.jpg"/><Relationship Id="rId22" Type="http://schemas.openxmlformats.org/officeDocument/2006/relationships/image" Target="../media/image21.jpg"/><Relationship Id="rId23" Type="http://schemas.openxmlformats.org/officeDocument/2006/relationships/image" Target="../media/image22.jp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jpg"/><Relationship Id="rId3" Type="http://schemas.openxmlformats.org/officeDocument/2006/relationships/image" Target="../media/image29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jp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Relationship Id="rId8" Type="http://schemas.openxmlformats.org/officeDocument/2006/relationships/image" Target="../media/image37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0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310128"/>
            <a:ext cx="1456944" cy="458724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23160" y="8805671"/>
            <a:ext cx="1463039" cy="451103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00984" y="7443216"/>
            <a:ext cx="923543" cy="451104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033016" y="5205984"/>
            <a:ext cx="1341120" cy="701040"/>
          </a:xfrm>
          <a:prstGeom prst="rect">
            <a:avLst/>
          </a:prstGeom>
        </p:spPr>
      </p:pic>
      <p:grpSp>
        <p:nvGrpSpPr>
          <p:cNvPr id="6" name="object 6" descr=""/>
          <p:cNvGrpSpPr/>
          <p:nvPr/>
        </p:nvGrpSpPr>
        <p:grpSpPr>
          <a:xfrm>
            <a:off x="8238743" y="5196840"/>
            <a:ext cx="710565" cy="701040"/>
            <a:chOff x="8238743" y="5196840"/>
            <a:chExt cx="710565" cy="701040"/>
          </a:xfrm>
        </p:grpSpPr>
        <p:pic>
          <p:nvPicPr>
            <p:cNvPr id="7" name="object 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38743" y="5196840"/>
              <a:ext cx="216407" cy="701040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473439" y="5196840"/>
              <a:ext cx="475488" cy="701040"/>
            </a:xfrm>
            <a:prstGeom prst="rect">
              <a:avLst/>
            </a:prstGeom>
          </p:spPr>
        </p:pic>
      </p:grpSp>
      <p:pic>
        <p:nvPicPr>
          <p:cNvPr id="9" name="object 9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186671" y="5205984"/>
            <a:ext cx="1399031" cy="701040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039111" y="4203191"/>
            <a:ext cx="1331976" cy="701040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599688" y="4203191"/>
            <a:ext cx="2441448" cy="801623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254240" y="4203191"/>
            <a:ext cx="1365503" cy="701040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851392" y="4203191"/>
            <a:ext cx="585216" cy="701040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033016" y="3203448"/>
            <a:ext cx="4041648" cy="701040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6312408" y="3203448"/>
            <a:ext cx="4255008" cy="701040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039111" y="2209800"/>
            <a:ext cx="899160" cy="682751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2987039" y="2200655"/>
            <a:ext cx="1731264" cy="701040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4946903" y="2200655"/>
            <a:ext cx="1834896" cy="701040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7010400" y="2200655"/>
            <a:ext cx="4145279" cy="701040"/>
          </a:xfrm>
          <a:prstGeom prst="rect">
            <a:avLst/>
          </a:prstGeom>
        </p:spPr>
      </p:pic>
      <p:pic>
        <p:nvPicPr>
          <p:cNvPr id="20" name="object 20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216408" y="137160"/>
            <a:ext cx="1859280" cy="1164336"/>
          </a:xfrm>
          <a:prstGeom prst="rect">
            <a:avLst/>
          </a:prstGeom>
        </p:spPr>
      </p:pic>
      <p:pic>
        <p:nvPicPr>
          <p:cNvPr id="21" name="object 21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3185647" y="192023"/>
            <a:ext cx="1030224" cy="1021080"/>
          </a:xfrm>
          <a:prstGeom prst="rect">
            <a:avLst/>
          </a:prstGeom>
        </p:spPr>
      </p:pic>
      <p:pic>
        <p:nvPicPr>
          <p:cNvPr id="22" name="object 22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4462760" y="472440"/>
            <a:ext cx="524255" cy="505968"/>
          </a:xfrm>
          <a:prstGeom prst="rect">
            <a:avLst/>
          </a:prstGeom>
        </p:spPr>
      </p:pic>
      <p:pic>
        <p:nvPicPr>
          <p:cNvPr id="23" name="object 23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5931895" y="640080"/>
            <a:ext cx="292607" cy="347472"/>
          </a:xfrm>
          <a:prstGeom prst="rect">
            <a:avLst/>
          </a:prstGeom>
        </p:spPr>
      </p:pic>
      <p:pic>
        <p:nvPicPr>
          <p:cNvPr id="24" name="object 24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7047463" y="630936"/>
            <a:ext cx="295655" cy="347472"/>
          </a:xfrm>
          <a:prstGeom prst="rect">
            <a:avLst/>
          </a:prstGeom>
        </p:spPr>
      </p:pic>
      <p:pic>
        <p:nvPicPr>
          <p:cNvPr id="25" name="object 25" descr="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4459223" y="3349752"/>
            <a:ext cx="1146048" cy="402335"/>
          </a:xfrm>
          <a:prstGeom prst="rect">
            <a:avLst/>
          </a:prstGeom>
        </p:spPr>
      </p:pic>
      <p:grpSp>
        <p:nvGrpSpPr>
          <p:cNvPr id="26" name="object 26" descr=""/>
          <p:cNvGrpSpPr/>
          <p:nvPr/>
        </p:nvGrpSpPr>
        <p:grpSpPr>
          <a:xfrm>
            <a:off x="2508504" y="3209544"/>
            <a:ext cx="3096895" cy="688975"/>
            <a:chOff x="2508504" y="3209544"/>
            <a:chExt cx="3096895" cy="688975"/>
          </a:xfrm>
        </p:grpSpPr>
        <p:pic>
          <p:nvPicPr>
            <p:cNvPr id="27" name="object 27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2679192" y="3349752"/>
              <a:ext cx="1633728" cy="170688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2508504" y="3209544"/>
              <a:ext cx="3096768" cy="688848"/>
            </a:xfrm>
            <a:prstGeom prst="rect">
              <a:avLst/>
            </a:prstGeom>
          </p:spPr>
        </p:pic>
      </p:grpSp>
      <p:grpSp>
        <p:nvGrpSpPr>
          <p:cNvPr id="29" name="object 29" descr=""/>
          <p:cNvGrpSpPr/>
          <p:nvPr/>
        </p:nvGrpSpPr>
        <p:grpSpPr>
          <a:xfrm>
            <a:off x="2039111" y="7440168"/>
            <a:ext cx="1039494" cy="457200"/>
            <a:chOff x="2039111" y="7440168"/>
            <a:chExt cx="1039494" cy="457200"/>
          </a:xfrm>
        </p:grpSpPr>
        <p:pic>
          <p:nvPicPr>
            <p:cNvPr id="30" name="object 30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2039111" y="7440168"/>
              <a:ext cx="1039368" cy="457200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2039111" y="7440168"/>
              <a:ext cx="1039368" cy="457200"/>
            </a:xfrm>
            <a:prstGeom prst="rect">
              <a:avLst/>
            </a:prstGeom>
          </p:spPr>
        </p:pic>
      </p:grpSp>
      <p:sp>
        <p:nvSpPr>
          <p:cNvPr id="32" name="object 32"/>
          <p:cNvSpPr txBox="1">
            <a:spLocks noGrp="1"/>
          </p:cNvSpPr>
          <p:nvPr>
            <p:ph type="title"/>
          </p:nvPr>
        </p:nvSpPr>
        <p:spPr>
          <a:xfrm>
            <a:off x="6245415" y="3863340"/>
            <a:ext cx="960119" cy="1244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0" spc="-1685">
                <a:latin typeface="Arial MT"/>
                <a:cs typeface="Arial MT"/>
              </a:rPr>
              <a:t>TR</a:t>
            </a:r>
            <a:endParaRPr sz="8000">
              <a:latin typeface="Arial MT"/>
              <a:cs typeface="Arial MT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1985849" y="4424245"/>
            <a:ext cx="6981190" cy="3629025"/>
          </a:xfrm>
          <a:prstGeom prst="rect">
            <a:avLst/>
          </a:prstGeom>
        </p:spPr>
        <p:txBody>
          <a:bodyPr wrap="square" lIns="0" tIns="416559" rIns="0" bIns="0" rtlCol="0" vert="horz">
            <a:spAutoFit/>
          </a:bodyPr>
          <a:lstStyle/>
          <a:p>
            <a:pPr algn="ctr" marL="294640">
              <a:lnSpc>
                <a:spcPct val="100000"/>
              </a:lnSpc>
              <a:spcBef>
                <a:spcPts val="3279"/>
              </a:spcBef>
            </a:pPr>
            <a:r>
              <a:rPr dirty="0" sz="8300" spc="-2250">
                <a:solidFill>
                  <a:srgbClr val="0E2F5E"/>
                </a:solidFill>
                <a:latin typeface="Arial Black"/>
                <a:cs typeface="Arial Black"/>
              </a:rPr>
              <a:t>TAINABILITY</a:t>
            </a:r>
            <a:endParaRPr sz="8300">
              <a:latin typeface="Arial Black"/>
              <a:cs typeface="Arial Black"/>
            </a:endParaRPr>
          </a:p>
          <a:p>
            <a:pPr algn="ctr">
              <a:lnSpc>
                <a:spcPts val="6584"/>
              </a:lnSpc>
              <a:spcBef>
                <a:spcPts val="2125"/>
              </a:spcBef>
            </a:pPr>
            <a:r>
              <a:rPr dirty="0" sz="5550" spc="-755">
                <a:solidFill>
                  <a:srgbClr val="011828"/>
                </a:solidFill>
                <a:latin typeface="Arial Black"/>
                <a:cs typeface="Arial Black"/>
              </a:rPr>
              <a:t>TEAM</a:t>
            </a:r>
            <a:r>
              <a:rPr dirty="0" sz="5550" spc="70">
                <a:solidFill>
                  <a:srgbClr val="011828"/>
                </a:solidFill>
                <a:latin typeface="Arial Black"/>
                <a:cs typeface="Arial Black"/>
              </a:rPr>
              <a:t> </a:t>
            </a:r>
            <a:r>
              <a:rPr dirty="0" sz="5550" spc="-445">
                <a:solidFill>
                  <a:srgbClr val="011828"/>
                </a:solidFill>
                <a:latin typeface="Arial Black"/>
                <a:cs typeface="Arial Black"/>
              </a:rPr>
              <a:t>:</a:t>
            </a:r>
            <a:r>
              <a:rPr dirty="0" sz="5550" spc="-390">
                <a:solidFill>
                  <a:srgbClr val="011828"/>
                </a:solidFill>
                <a:latin typeface="Arial Black"/>
                <a:cs typeface="Arial Black"/>
              </a:rPr>
              <a:t> </a:t>
            </a:r>
            <a:r>
              <a:rPr dirty="0" baseline="1001" sz="8325" spc="-577">
                <a:solidFill>
                  <a:srgbClr val="011828"/>
                </a:solidFill>
                <a:latin typeface="Arial Black"/>
                <a:cs typeface="Arial Black"/>
              </a:rPr>
              <a:t>CA</a:t>
            </a:r>
            <a:r>
              <a:rPr dirty="0" sz="5550" spc="-385">
                <a:solidFill>
                  <a:srgbClr val="011828"/>
                </a:solidFill>
                <a:latin typeface="Arial Black"/>
                <a:cs typeface="Arial Black"/>
              </a:rPr>
              <a:t>S</a:t>
            </a:r>
            <a:r>
              <a:rPr dirty="0" baseline="1001" sz="8325" spc="-577">
                <a:solidFill>
                  <a:srgbClr val="011828"/>
                </a:solidFill>
                <a:latin typeface="Arial Black"/>
                <a:cs typeface="Arial Black"/>
              </a:rPr>
              <a:t>EMATE</a:t>
            </a:r>
            <a:r>
              <a:rPr dirty="0" sz="5550" spc="-385">
                <a:solidFill>
                  <a:srgbClr val="011828"/>
                </a:solidFill>
                <a:latin typeface="Arial Black"/>
                <a:cs typeface="Arial Black"/>
              </a:rPr>
              <a:t>S</a:t>
            </a:r>
            <a:endParaRPr sz="5550">
              <a:latin typeface="Arial Black"/>
              <a:cs typeface="Arial Black"/>
            </a:endParaRPr>
          </a:p>
          <a:p>
            <a:pPr algn="ctr" marR="842644">
              <a:lnSpc>
                <a:spcPts val="6525"/>
              </a:lnSpc>
            </a:pPr>
            <a:r>
              <a:rPr dirty="0" sz="5500" spc="-445">
                <a:solidFill>
                  <a:srgbClr val="011828"/>
                </a:solidFill>
                <a:latin typeface="Arial Black"/>
                <a:cs typeface="Arial Black"/>
              </a:rPr>
              <a:t>IP</a:t>
            </a:r>
            <a:r>
              <a:rPr dirty="0" sz="5500" spc="-445">
                <a:solidFill>
                  <a:srgbClr val="011828"/>
                </a:solidFill>
                <a:latin typeface="Arial Black"/>
                <a:cs typeface="Arial Black"/>
              </a:rPr>
              <a:t>U</a:t>
            </a:r>
            <a:r>
              <a:rPr dirty="0" sz="5500" spc="-445">
                <a:solidFill>
                  <a:srgbClr val="011828"/>
                </a:solidFill>
                <a:latin typeface="Arial Black"/>
                <a:cs typeface="Arial Black"/>
              </a:rPr>
              <a:t>R</a:t>
            </a:r>
            <a:endParaRPr sz="5500">
              <a:latin typeface="Arial Black"/>
              <a:cs typeface="Arial Black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15034107" y="190754"/>
            <a:ext cx="3096260" cy="962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36345" algn="l"/>
                <a:tab pos="2357120" algn="l"/>
              </a:tabLst>
            </a:pPr>
            <a:r>
              <a:rPr dirty="0" sz="6150" spc="-25">
                <a:solidFill>
                  <a:srgbClr val="00C6FF"/>
                </a:solidFill>
                <a:latin typeface="Arial MT"/>
                <a:cs typeface="Arial MT"/>
              </a:rPr>
              <a:t>ed</a:t>
            </a:r>
            <a:r>
              <a:rPr dirty="0" sz="6150">
                <a:solidFill>
                  <a:srgbClr val="00C6FF"/>
                </a:solidFill>
                <a:latin typeface="Arial MT"/>
                <a:cs typeface="Arial MT"/>
              </a:rPr>
              <a:t>	</a:t>
            </a:r>
            <a:r>
              <a:rPr dirty="0" sz="6150" spc="-785">
                <a:solidFill>
                  <a:srgbClr val="00C6FF"/>
                </a:solidFill>
                <a:latin typeface="Arial MT"/>
                <a:cs typeface="Arial MT"/>
              </a:rPr>
              <a:t>La</a:t>
            </a:r>
            <a:r>
              <a:rPr dirty="0" sz="6150">
                <a:solidFill>
                  <a:srgbClr val="00C6FF"/>
                </a:solidFill>
                <a:latin typeface="Arial MT"/>
                <a:cs typeface="Arial MT"/>
              </a:rPr>
              <a:t>	</a:t>
            </a:r>
            <a:r>
              <a:rPr dirty="0" sz="6150" spc="-455">
                <a:solidFill>
                  <a:srgbClr val="00C6FF"/>
                </a:solidFill>
                <a:latin typeface="Arial MT"/>
                <a:cs typeface="Arial MT"/>
              </a:rPr>
              <a:t>ce</a:t>
            </a:r>
            <a:endParaRPr sz="61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047"/>
            <a:ext cx="18288000" cy="10283952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774191" y="7082028"/>
            <a:ext cx="243840" cy="0"/>
          </a:xfrm>
          <a:custGeom>
            <a:avLst/>
            <a:gdLst/>
            <a:ahLst/>
            <a:cxnLst/>
            <a:rect l="l" t="t" r="r" b="b"/>
            <a:pathLst>
              <a:path w="243840" h="0">
                <a:moveTo>
                  <a:pt x="0" y="0"/>
                </a:moveTo>
                <a:lnTo>
                  <a:pt x="243840" y="0"/>
                </a:lnTo>
              </a:path>
            </a:pathLst>
          </a:custGeom>
          <a:ln w="9144">
            <a:solidFill>
              <a:srgbClr val="A33F44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1272" y="8933688"/>
            <a:ext cx="353568" cy="13106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3576" rIns="0" bIns="0" rtlCol="0" vert="horz">
            <a:spAutoFit/>
          </a:bodyPr>
          <a:lstStyle/>
          <a:p>
            <a:pPr marL="55880">
              <a:lnSpc>
                <a:spcPct val="100000"/>
              </a:lnSpc>
              <a:spcBef>
                <a:spcPts val="100"/>
              </a:spcBef>
            </a:pPr>
            <a:r>
              <a:rPr dirty="0" sz="6400" spc="-330"/>
              <a:t>O</a:t>
            </a:r>
            <a:r>
              <a:rPr dirty="0" sz="6400" spc="-265"/>
              <a:t>V</a:t>
            </a:r>
            <a:r>
              <a:rPr dirty="0" sz="6400" spc="-315"/>
              <a:t>ERVIE</a:t>
            </a:r>
            <a:r>
              <a:rPr dirty="0" sz="6400" spc="-2165"/>
              <a:t>W</a:t>
            </a:r>
            <a:r>
              <a:rPr dirty="0" sz="6400" spc="-315"/>
              <a:t>&amp;</a:t>
            </a:r>
            <a:r>
              <a:rPr dirty="0" sz="6400" spc="-335"/>
              <a:t> </a:t>
            </a:r>
            <a:r>
              <a:rPr dirty="0" sz="6400" spc="-575"/>
              <a:t>CH</a:t>
            </a:r>
            <a:r>
              <a:rPr dirty="0" sz="6400" spc="-575"/>
              <a:t>ALLEN</a:t>
            </a:r>
            <a:r>
              <a:rPr dirty="0" sz="6400" spc="-575"/>
              <a:t>GES</a:t>
            </a:r>
            <a:endParaRPr sz="6400"/>
          </a:p>
        </p:txBody>
      </p:sp>
      <p:sp>
        <p:nvSpPr>
          <p:cNvPr id="6" name="object 6" descr=""/>
          <p:cNvSpPr txBox="1"/>
          <p:nvPr/>
        </p:nvSpPr>
        <p:spPr>
          <a:xfrm>
            <a:off x="87394" y="2791831"/>
            <a:ext cx="6331585" cy="108458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just" marL="13335" marR="5080" indent="-1270">
              <a:lnSpc>
                <a:spcPct val="110800"/>
              </a:lnSpc>
              <a:spcBef>
                <a:spcPts val="125"/>
              </a:spcBef>
            </a:pPr>
            <a:r>
              <a:rPr dirty="0" sz="2100">
                <a:solidFill>
                  <a:srgbClr val="0E2F5E"/>
                </a:solidFill>
                <a:latin typeface="Arial MT"/>
                <a:cs typeface="Arial MT"/>
              </a:rPr>
              <a:t>India's</a:t>
            </a:r>
            <a:r>
              <a:rPr dirty="0" sz="2100" spc="165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0E2F5E"/>
                </a:solidFill>
                <a:latin typeface="Arial MT"/>
                <a:cs typeface="Arial MT"/>
              </a:rPr>
              <a:t>first,</a:t>
            </a:r>
            <a:r>
              <a:rPr dirty="0" sz="2100" spc="65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100" spc="-195">
                <a:solidFill>
                  <a:srgbClr val="0E2F5E"/>
                </a:solidFill>
                <a:latin typeface="Arial MT"/>
                <a:cs typeface="Arial MT"/>
              </a:rPr>
              <a:t>GPS</a:t>
            </a:r>
            <a:r>
              <a:rPr dirty="0" sz="2100" spc="95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0E2F5E"/>
                </a:solidFill>
                <a:latin typeface="Arial MT"/>
                <a:cs typeface="Arial MT"/>
              </a:rPr>
              <a:t>based</a:t>
            </a:r>
            <a:r>
              <a:rPr dirty="0" sz="2100" spc="175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100" spc="50">
                <a:solidFill>
                  <a:srgbClr val="0E2F5E"/>
                </a:solidFill>
                <a:latin typeface="Arial MT"/>
                <a:cs typeface="Arial MT"/>
              </a:rPr>
              <a:t>technology</a:t>
            </a:r>
            <a:r>
              <a:rPr dirty="0" sz="2100" spc="305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100" spc="55">
                <a:solidFill>
                  <a:srgbClr val="0E2F5E"/>
                </a:solidFill>
                <a:latin typeface="Arial MT"/>
                <a:cs typeface="Arial MT"/>
              </a:rPr>
              <a:t>platform</a:t>
            </a:r>
            <a:r>
              <a:rPr dirty="0" sz="2100" spc="240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0E2F5E"/>
                </a:solidFill>
                <a:latin typeface="Arial MT"/>
                <a:cs typeface="Arial MT"/>
              </a:rPr>
              <a:t>for</a:t>
            </a:r>
            <a:r>
              <a:rPr dirty="0" sz="2100" spc="210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100" spc="-20">
                <a:solidFill>
                  <a:srgbClr val="0E2F5E"/>
                </a:solidFill>
                <a:latin typeface="Arial MT"/>
                <a:cs typeface="Arial MT"/>
              </a:rPr>
              <a:t>fast </a:t>
            </a:r>
            <a:r>
              <a:rPr dirty="0" sz="2050" spc="50">
                <a:solidFill>
                  <a:srgbClr val="0E2F5E"/>
                </a:solidFill>
                <a:latin typeface="Arial MT"/>
                <a:cs typeface="Arial MT"/>
              </a:rPr>
              <a:t>and</a:t>
            </a:r>
            <a:r>
              <a:rPr dirty="0" sz="2050" spc="450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050" spc="50">
                <a:solidFill>
                  <a:srgbClr val="0E2F5E"/>
                </a:solidFill>
                <a:latin typeface="Arial MT"/>
                <a:cs typeface="Arial MT"/>
              </a:rPr>
              <a:t>reliable</a:t>
            </a:r>
            <a:r>
              <a:rPr dirty="0" sz="2050" spc="-30">
                <a:solidFill>
                  <a:srgbClr val="0E2F5E"/>
                </a:solidFill>
                <a:latin typeface="Arial MT"/>
                <a:cs typeface="Arial MT"/>
              </a:rPr>
              <a:t>  </a:t>
            </a:r>
            <a:r>
              <a:rPr dirty="0" sz="2050">
                <a:solidFill>
                  <a:srgbClr val="0E2F5E"/>
                </a:solidFill>
                <a:latin typeface="Arial MT"/>
                <a:cs typeface="Arial MT"/>
              </a:rPr>
              <a:t>first</a:t>
            </a:r>
            <a:r>
              <a:rPr dirty="0" sz="2050" spc="-30">
                <a:solidFill>
                  <a:srgbClr val="0E2F5E"/>
                </a:solidFill>
                <a:latin typeface="Arial MT"/>
                <a:cs typeface="Arial MT"/>
              </a:rPr>
              <a:t>  </a:t>
            </a:r>
            <a:r>
              <a:rPr dirty="0" sz="2050" spc="80">
                <a:solidFill>
                  <a:srgbClr val="0E2F5E"/>
                </a:solidFill>
                <a:latin typeface="Arial MT"/>
                <a:cs typeface="Arial MT"/>
              </a:rPr>
              <a:t>point</a:t>
            </a:r>
            <a:r>
              <a:rPr dirty="0" sz="2050" spc="-25">
                <a:solidFill>
                  <a:srgbClr val="0E2F5E"/>
                </a:solidFill>
                <a:latin typeface="Arial MT"/>
                <a:cs typeface="Arial MT"/>
              </a:rPr>
              <a:t>  </a:t>
            </a:r>
            <a:r>
              <a:rPr dirty="0" sz="2050" spc="75">
                <a:solidFill>
                  <a:srgbClr val="0E2F5E"/>
                </a:solidFill>
                <a:latin typeface="Arial MT"/>
                <a:cs typeface="Arial MT"/>
              </a:rPr>
              <a:t>medical</a:t>
            </a:r>
            <a:r>
              <a:rPr dirty="0" sz="2050" spc="415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050" spc="50">
                <a:solidFill>
                  <a:srgbClr val="0E2F5E"/>
                </a:solidFill>
                <a:latin typeface="Arial MT"/>
                <a:cs typeface="Arial MT"/>
              </a:rPr>
              <a:t>attention.</a:t>
            </a:r>
            <a:r>
              <a:rPr dirty="0" sz="2050" spc="-30">
                <a:solidFill>
                  <a:srgbClr val="0E2F5E"/>
                </a:solidFill>
                <a:latin typeface="Arial MT"/>
                <a:cs typeface="Arial MT"/>
              </a:rPr>
              <a:t>  </a:t>
            </a:r>
            <a:r>
              <a:rPr dirty="0" sz="2050" spc="65">
                <a:solidFill>
                  <a:srgbClr val="0E2F5E"/>
                </a:solidFill>
                <a:latin typeface="Arial MT"/>
                <a:cs typeface="Arial MT"/>
              </a:rPr>
              <a:t>With</a:t>
            </a:r>
            <a:r>
              <a:rPr dirty="0" sz="2050" spc="475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050" spc="-25">
                <a:solidFill>
                  <a:srgbClr val="0E2F5E"/>
                </a:solidFill>
                <a:latin typeface="Arial MT"/>
                <a:cs typeface="Arial MT"/>
              </a:rPr>
              <a:t>an </a:t>
            </a:r>
            <a:r>
              <a:rPr dirty="0" sz="2100">
                <a:solidFill>
                  <a:srgbClr val="0E2F5E"/>
                </a:solidFill>
                <a:latin typeface="Arial MT"/>
                <a:cs typeface="Arial MT"/>
              </a:rPr>
              <a:t>increasing</a:t>
            </a:r>
            <a:r>
              <a:rPr dirty="0" sz="2100" spc="215">
                <a:solidFill>
                  <a:srgbClr val="0E2F5E"/>
                </a:solidFill>
                <a:latin typeface="Arial MT"/>
                <a:cs typeface="Arial MT"/>
              </a:rPr>
              <a:t>  </a:t>
            </a:r>
            <a:r>
              <a:rPr dirty="0" sz="2100">
                <a:solidFill>
                  <a:srgbClr val="0E2F5E"/>
                </a:solidFill>
                <a:latin typeface="Arial MT"/>
                <a:cs typeface="Arial MT"/>
              </a:rPr>
              <a:t>emphasis</a:t>
            </a:r>
            <a:r>
              <a:rPr dirty="0" sz="2100" spc="240">
                <a:solidFill>
                  <a:srgbClr val="0E2F5E"/>
                </a:solidFill>
                <a:latin typeface="Arial MT"/>
                <a:cs typeface="Arial MT"/>
              </a:rPr>
              <a:t>  </a:t>
            </a:r>
            <a:r>
              <a:rPr dirty="0" sz="2100" spc="75">
                <a:solidFill>
                  <a:srgbClr val="0E2F5E"/>
                </a:solidFill>
                <a:latin typeface="Arial MT"/>
                <a:cs typeface="Arial MT"/>
              </a:rPr>
              <a:t>on</a:t>
            </a:r>
            <a:r>
              <a:rPr dirty="0" sz="2100" spc="130">
                <a:solidFill>
                  <a:srgbClr val="0E2F5E"/>
                </a:solidFill>
                <a:latin typeface="Arial MT"/>
                <a:cs typeface="Arial MT"/>
              </a:rPr>
              <a:t>  </a:t>
            </a:r>
            <a:r>
              <a:rPr dirty="0" sz="2100" spc="55">
                <a:solidFill>
                  <a:srgbClr val="0E2F5E"/>
                </a:solidFill>
                <a:latin typeface="Arial MT"/>
                <a:cs typeface="Arial MT"/>
              </a:rPr>
              <a:t>promoting</a:t>
            </a:r>
            <a:r>
              <a:rPr dirty="0" sz="2100" spc="254">
                <a:solidFill>
                  <a:srgbClr val="0E2F5E"/>
                </a:solidFill>
                <a:latin typeface="Arial MT"/>
                <a:cs typeface="Arial MT"/>
              </a:rPr>
              <a:t>  </a:t>
            </a:r>
            <a:r>
              <a:rPr dirty="0" sz="2100" spc="-10">
                <a:solidFill>
                  <a:srgbClr val="0E2F5E"/>
                </a:solidFill>
                <a:latin typeface="Arial MT"/>
                <a:cs typeface="Arial MT"/>
              </a:rPr>
              <a:t>independent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88172" y="3860669"/>
            <a:ext cx="6321425" cy="10763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just" marL="12700" marR="5080" indent="948690">
              <a:lnSpc>
                <a:spcPct val="108700"/>
              </a:lnSpc>
              <a:spcBef>
                <a:spcPts val="90"/>
              </a:spcBef>
              <a:tabLst>
                <a:tab pos="4734560" algn="l"/>
              </a:tabLst>
            </a:pPr>
            <a:r>
              <a:rPr dirty="0" sz="2100">
                <a:solidFill>
                  <a:srgbClr val="0E2F5E"/>
                </a:solidFill>
                <a:latin typeface="Arial MT"/>
                <a:cs typeface="Arial MT"/>
              </a:rPr>
              <a:t>today,</a:t>
            </a:r>
            <a:r>
              <a:rPr dirty="0" sz="2100" spc="220">
                <a:solidFill>
                  <a:srgbClr val="0E2F5E"/>
                </a:solidFill>
                <a:latin typeface="Arial MT"/>
                <a:cs typeface="Arial MT"/>
              </a:rPr>
              <a:t>   </a:t>
            </a:r>
            <a:r>
              <a:rPr dirty="0" sz="2100">
                <a:solidFill>
                  <a:srgbClr val="0E2F5E"/>
                </a:solidFill>
                <a:latin typeface="Arial MT"/>
                <a:cs typeface="Arial MT"/>
              </a:rPr>
              <a:t>having</a:t>
            </a:r>
            <a:r>
              <a:rPr dirty="0" sz="2100" spc="265">
                <a:solidFill>
                  <a:srgbClr val="0E2F5E"/>
                </a:solidFill>
                <a:latin typeface="Arial MT"/>
                <a:cs typeface="Arial MT"/>
              </a:rPr>
              <a:t>   </a:t>
            </a:r>
            <a:r>
              <a:rPr dirty="0" sz="2100" spc="-10">
                <a:solidFill>
                  <a:srgbClr val="0E2F5E"/>
                </a:solidFill>
                <a:latin typeface="Arial MT"/>
                <a:cs typeface="Arial MT"/>
              </a:rPr>
              <a:t>access</a:t>
            </a:r>
            <a:r>
              <a:rPr dirty="0" sz="2100">
                <a:solidFill>
                  <a:srgbClr val="0E2F5E"/>
                </a:solidFill>
                <a:latin typeface="Arial MT"/>
                <a:cs typeface="Arial MT"/>
              </a:rPr>
              <a:t>	</a:t>
            </a:r>
            <a:r>
              <a:rPr dirty="0" sz="2100" spc="50">
                <a:solidFill>
                  <a:srgbClr val="0E2F5E"/>
                </a:solidFill>
                <a:latin typeface="Arial MT"/>
                <a:cs typeface="Arial MT"/>
              </a:rPr>
              <a:t>the</a:t>
            </a:r>
            <a:r>
              <a:rPr dirty="0" sz="2100" spc="155">
                <a:solidFill>
                  <a:srgbClr val="0E2F5E"/>
                </a:solidFill>
                <a:latin typeface="Arial MT"/>
                <a:cs typeface="Arial MT"/>
              </a:rPr>
              <a:t>   </a:t>
            </a:r>
            <a:r>
              <a:rPr dirty="0" sz="2100" spc="-10">
                <a:solidFill>
                  <a:srgbClr val="0E2F5E"/>
                </a:solidFill>
                <a:latin typeface="Arial MT"/>
                <a:cs typeface="Arial MT"/>
              </a:rPr>
              <a:t>nearest </a:t>
            </a:r>
            <a:r>
              <a:rPr dirty="0" sz="2150">
                <a:solidFill>
                  <a:srgbClr val="0E2F5E"/>
                </a:solidFill>
                <a:latin typeface="Arial MT"/>
                <a:cs typeface="Arial MT"/>
              </a:rPr>
              <a:t>ambulance</a:t>
            </a:r>
            <a:r>
              <a:rPr dirty="0" sz="2150" spc="125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150" spc="60">
                <a:solidFill>
                  <a:srgbClr val="0E2F5E"/>
                </a:solidFill>
                <a:latin typeface="Arial MT"/>
                <a:cs typeface="Arial MT"/>
              </a:rPr>
              <a:t>to</a:t>
            </a:r>
            <a:r>
              <a:rPr dirty="0" sz="2150" spc="-60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0E2F5E"/>
                </a:solidFill>
                <a:latin typeface="Arial MT"/>
                <a:cs typeface="Arial MT"/>
              </a:rPr>
              <a:t>you</a:t>
            </a:r>
            <a:r>
              <a:rPr dirty="0" sz="2150" spc="-20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0E2F5E"/>
                </a:solidFill>
                <a:latin typeface="Arial MT"/>
                <a:cs typeface="Arial MT"/>
              </a:rPr>
              <a:t>can provide</a:t>
            </a:r>
            <a:r>
              <a:rPr dirty="0" sz="2150" spc="60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0E2F5E"/>
                </a:solidFill>
                <a:latin typeface="Arial MT"/>
                <a:cs typeface="Arial MT"/>
              </a:rPr>
              <a:t>much</a:t>
            </a:r>
            <a:r>
              <a:rPr dirty="0" sz="2150" spc="15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0E2F5E"/>
                </a:solidFill>
                <a:latin typeface="Arial MT"/>
                <a:cs typeface="Arial MT"/>
              </a:rPr>
              <a:t>needed</a:t>
            </a:r>
            <a:r>
              <a:rPr dirty="0" sz="2150" spc="75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150" spc="-10">
                <a:solidFill>
                  <a:srgbClr val="0E2F5E"/>
                </a:solidFill>
                <a:latin typeface="Arial MT"/>
                <a:cs typeface="Arial MT"/>
              </a:rPr>
              <a:t>peace </a:t>
            </a:r>
            <a:r>
              <a:rPr dirty="0" sz="2100">
                <a:solidFill>
                  <a:srgbClr val="0E2F5E"/>
                </a:solidFill>
                <a:latin typeface="Arial MT"/>
                <a:cs typeface="Arial MT"/>
              </a:rPr>
              <a:t>of</a:t>
            </a:r>
            <a:r>
              <a:rPr dirty="0" sz="2100" spc="-40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100" spc="75">
                <a:solidFill>
                  <a:srgbClr val="0E2F5E"/>
                </a:solidFill>
                <a:latin typeface="Arial MT"/>
                <a:cs typeface="Arial MT"/>
              </a:rPr>
              <a:t>mind</a:t>
            </a:r>
            <a:r>
              <a:rPr dirty="0" sz="2100" spc="-130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100" spc="50">
                <a:solidFill>
                  <a:srgbClr val="0E2F5E"/>
                </a:solidFill>
                <a:latin typeface="Arial MT"/>
                <a:cs typeface="Arial MT"/>
              </a:rPr>
              <a:t>in</a:t>
            </a:r>
            <a:r>
              <a:rPr dirty="0" sz="2100" spc="-120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100" spc="-75">
                <a:solidFill>
                  <a:srgbClr val="0E2F5E"/>
                </a:solidFill>
                <a:latin typeface="Arial MT"/>
                <a:cs typeface="Arial MT"/>
              </a:rPr>
              <a:t>a</a:t>
            </a:r>
            <a:r>
              <a:rPr dirty="0" sz="2100" spc="-135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0E2F5E"/>
                </a:solidFill>
                <a:latin typeface="Arial MT"/>
                <a:cs typeface="Arial MT"/>
              </a:rPr>
              <a:t>worst</a:t>
            </a:r>
            <a:r>
              <a:rPr dirty="0" sz="2100" spc="-40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100" spc="-35">
                <a:solidFill>
                  <a:srgbClr val="0E2F5E"/>
                </a:solidFill>
                <a:latin typeface="Arial MT"/>
                <a:cs typeface="Arial MT"/>
              </a:rPr>
              <a:t>case</a:t>
            </a:r>
            <a:r>
              <a:rPr dirty="0" sz="2100" spc="-125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100" spc="-10">
                <a:solidFill>
                  <a:srgbClr val="0E2F5E"/>
                </a:solidFill>
                <a:latin typeface="Arial MT"/>
                <a:cs typeface="Arial MT"/>
              </a:rPr>
              <a:t>scenario.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717635" y="6299961"/>
            <a:ext cx="2948305" cy="292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-425">
                <a:solidFill>
                  <a:srgbClr val="2B2B2B"/>
                </a:solidFill>
                <a:latin typeface="Arial Black"/>
                <a:cs typeface="Arial Black"/>
              </a:rPr>
              <a:t>EMS</a:t>
            </a:r>
            <a:r>
              <a:rPr dirty="0" sz="1750" spc="-15">
                <a:solidFill>
                  <a:srgbClr val="2B2B2B"/>
                </a:solidFill>
                <a:latin typeface="Arial Black"/>
                <a:cs typeface="Arial Black"/>
              </a:rPr>
              <a:t> </a:t>
            </a:r>
            <a:r>
              <a:rPr dirty="0" sz="1750" spc="-335">
                <a:solidFill>
                  <a:srgbClr val="282828"/>
                </a:solidFill>
                <a:latin typeface="Arial Black"/>
                <a:cs typeface="Arial Black"/>
              </a:rPr>
              <a:t>Trends</a:t>
            </a:r>
            <a:r>
              <a:rPr dirty="0" sz="1750" spc="-10">
                <a:solidFill>
                  <a:srgbClr val="282828"/>
                </a:solidFill>
                <a:latin typeface="Arial Black"/>
                <a:cs typeface="Arial Black"/>
              </a:rPr>
              <a:t> </a:t>
            </a:r>
            <a:r>
              <a:rPr dirty="0" sz="1750" spc="-335">
                <a:solidFill>
                  <a:srgbClr val="333333"/>
                </a:solidFill>
                <a:latin typeface="Arial Black"/>
                <a:cs typeface="Arial Black"/>
              </a:rPr>
              <a:t>Growth</a:t>
            </a:r>
            <a:r>
              <a:rPr dirty="0" sz="1750" spc="120">
                <a:solidFill>
                  <a:srgbClr val="333333"/>
                </a:solidFill>
                <a:latin typeface="Arial Black"/>
                <a:cs typeface="Arial Black"/>
              </a:rPr>
              <a:t> </a:t>
            </a:r>
            <a:r>
              <a:rPr dirty="0" sz="1750" spc="-240">
                <a:solidFill>
                  <a:srgbClr val="242424"/>
                </a:solidFill>
                <a:latin typeface="Arial Black"/>
                <a:cs typeface="Arial Black"/>
              </a:rPr>
              <a:t>(2018-</a:t>
            </a:r>
            <a:r>
              <a:rPr dirty="0" sz="1750" spc="-220">
                <a:solidFill>
                  <a:srgbClr val="242424"/>
                </a:solidFill>
                <a:latin typeface="Arial Black"/>
                <a:cs typeface="Arial Black"/>
              </a:rPr>
              <a:t>2024)</a:t>
            </a:r>
            <a:endParaRPr sz="1750">
              <a:latin typeface="Arial Black"/>
              <a:cs typeface="Arial Black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47981" y="6815328"/>
            <a:ext cx="19177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solidFill>
                  <a:srgbClr val="343434"/>
                </a:solidFill>
                <a:latin typeface="Arial MT"/>
                <a:cs typeface="Arial MT"/>
              </a:rPr>
              <a:t>80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073528" y="6650990"/>
            <a:ext cx="1373505" cy="868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780">
              <a:lnSpc>
                <a:spcPct val="100000"/>
              </a:lnSpc>
              <a:spcBef>
                <a:spcPts val="100"/>
              </a:spcBef>
            </a:pPr>
            <a:r>
              <a:rPr dirty="0" sz="1050" spc="-40">
                <a:solidFill>
                  <a:srgbClr val="565656"/>
                </a:solidFill>
                <a:latin typeface="Arial MT"/>
                <a:cs typeface="Arial MT"/>
              </a:rPr>
              <a:t>Al</a:t>
            </a:r>
            <a:r>
              <a:rPr dirty="0" sz="1050" spc="-25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6E6E6E"/>
                </a:solidFill>
                <a:latin typeface="Arial MT"/>
                <a:cs typeface="Arial MT"/>
              </a:rPr>
              <a:t>in</a:t>
            </a:r>
            <a:r>
              <a:rPr dirty="0" sz="1050" spc="-20">
                <a:solidFill>
                  <a:srgbClr val="6E6E6E"/>
                </a:solidFill>
                <a:latin typeface="Arial MT"/>
                <a:cs typeface="Arial MT"/>
              </a:rPr>
              <a:t> </a:t>
            </a:r>
            <a:r>
              <a:rPr dirty="0" sz="1050" spc="-25">
                <a:solidFill>
                  <a:srgbClr val="494949"/>
                </a:solidFill>
                <a:latin typeface="Arial MT"/>
                <a:cs typeface="Arial MT"/>
              </a:rPr>
              <a:t>EMS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100" spc="-165">
                <a:solidFill>
                  <a:srgbClr val="4D4D4D"/>
                </a:solidFill>
                <a:latin typeface="Arial MT"/>
                <a:cs typeface="Arial MT"/>
              </a:rPr>
              <a:t>EV</a:t>
            </a:r>
            <a:r>
              <a:rPr dirty="0" sz="1100" spc="4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464646"/>
                </a:solidFill>
                <a:latin typeface="Arial MT"/>
                <a:cs typeface="Arial MT"/>
              </a:rPr>
              <a:t>Ambulances</a:t>
            </a:r>
            <a:endParaRPr sz="1100">
              <a:latin typeface="Arial MT"/>
              <a:cs typeface="Arial MT"/>
            </a:endParaRPr>
          </a:p>
          <a:p>
            <a:pPr marL="14604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solidFill>
                  <a:srgbClr val="444444"/>
                </a:solidFill>
                <a:latin typeface="Arial MT"/>
                <a:cs typeface="Arial MT"/>
              </a:rPr>
              <a:t>Telemedicine</a:t>
            </a:r>
            <a:endParaRPr sz="1000">
              <a:latin typeface="Arial MT"/>
              <a:cs typeface="Arial MT"/>
            </a:endParaRPr>
          </a:p>
          <a:p>
            <a:pPr marL="13335">
              <a:lnSpc>
                <a:spcPct val="100000"/>
              </a:lnSpc>
              <a:spcBef>
                <a:spcPts val="120"/>
              </a:spcBef>
            </a:pPr>
            <a:r>
              <a:rPr dirty="0" sz="1050" spc="-180">
                <a:solidFill>
                  <a:srgbClr val="545454"/>
                </a:solidFill>
                <a:latin typeface="Arial MT"/>
                <a:cs typeface="Arial MT"/>
              </a:rPr>
              <a:t>PPP</a:t>
            </a:r>
            <a:r>
              <a:rPr dirty="0" sz="1050" spc="5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5D5D5D"/>
                </a:solidFill>
                <a:latin typeface="Arial MT"/>
                <a:cs typeface="Arial MT"/>
              </a:rPr>
              <a:t>in</a:t>
            </a:r>
            <a:r>
              <a:rPr dirty="0" sz="1050" spc="-45">
                <a:solidFill>
                  <a:srgbClr val="5D5D5D"/>
                </a:solidFill>
                <a:latin typeface="Arial MT"/>
                <a:cs typeface="Arial MT"/>
              </a:rPr>
              <a:t> </a:t>
            </a:r>
            <a:r>
              <a:rPr dirty="0" sz="1050" spc="-25">
                <a:solidFill>
                  <a:srgbClr val="414141"/>
                </a:solidFill>
                <a:latin typeface="Arial MT"/>
                <a:cs typeface="Arial MT"/>
              </a:rPr>
              <a:t>EMS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z="1050" spc="-55">
                <a:solidFill>
                  <a:srgbClr val="343434"/>
                </a:solidFill>
                <a:latin typeface="Arial MT"/>
                <a:cs typeface="Arial MT"/>
              </a:rPr>
              <a:t>Ride-</a:t>
            </a:r>
            <a:r>
              <a:rPr dirty="0" sz="1050" spc="-30">
                <a:solidFill>
                  <a:srgbClr val="343434"/>
                </a:solidFill>
                <a:latin typeface="Arial MT"/>
                <a:cs typeface="Arial MT"/>
              </a:rPr>
              <a:t>Hailing</a:t>
            </a:r>
            <a:r>
              <a:rPr dirty="0" sz="1050" spc="5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444444"/>
                </a:solidFill>
                <a:latin typeface="Arial MT"/>
                <a:cs typeface="Arial MT"/>
              </a:rPr>
              <a:t>Integration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278044" y="7510271"/>
            <a:ext cx="36258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181818"/>
                </a:solidFill>
                <a:latin typeface="Arial MT"/>
                <a:cs typeface="Arial MT"/>
              </a:rPr>
              <a:t>qj</a:t>
            </a:r>
            <a:r>
              <a:rPr dirty="0" sz="1100" spc="13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212121"/>
                </a:solidFill>
                <a:latin typeface="Arial MT"/>
                <a:cs typeface="Arial MT"/>
              </a:rPr>
              <a:t>60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256749" y="8157971"/>
            <a:ext cx="39116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1A1A1A"/>
                </a:solidFill>
                <a:latin typeface="Courier New"/>
                <a:cs typeface="Courier New"/>
              </a:rPr>
              <a:t>m</a:t>
            </a:r>
            <a:r>
              <a:rPr dirty="0" sz="1400" spc="-305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dirty="0" sz="1400" spc="-65">
                <a:solidFill>
                  <a:srgbClr val="161616"/>
                </a:solidFill>
                <a:latin typeface="Courier New"/>
                <a:cs typeface="Courier New"/>
              </a:rPr>
              <a:t>40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711130" y="9719056"/>
            <a:ext cx="37465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75">
                <a:solidFill>
                  <a:srgbClr val="111111"/>
                </a:solidFill>
                <a:latin typeface="Courier New"/>
                <a:cs typeface="Courier New"/>
              </a:rPr>
              <a:t>2018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482274" y="9719056"/>
            <a:ext cx="37020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90">
                <a:solidFill>
                  <a:srgbClr val="1D1D1D"/>
                </a:solidFill>
                <a:latin typeface="Courier New"/>
                <a:cs typeface="Courier New"/>
              </a:rPr>
              <a:t>2019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2247322" y="9719056"/>
            <a:ext cx="37846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75">
                <a:solidFill>
                  <a:srgbClr val="212121"/>
                </a:solidFill>
                <a:latin typeface="Courier New"/>
                <a:cs typeface="Courier New"/>
              </a:rPr>
              <a:t>2020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3789610" y="9719056"/>
            <a:ext cx="37020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90">
                <a:solidFill>
                  <a:srgbClr val="181818"/>
                </a:solidFill>
                <a:latin typeface="Courier New"/>
                <a:cs typeface="Courier New"/>
              </a:rPr>
              <a:t>2022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4557706" y="9719056"/>
            <a:ext cx="37465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75">
                <a:solidFill>
                  <a:srgbClr val="232323"/>
                </a:solidFill>
                <a:latin typeface="Courier New"/>
                <a:cs typeface="Courier New"/>
              </a:rPr>
              <a:t>2023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5328850" y="9719056"/>
            <a:ext cx="38227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60">
                <a:solidFill>
                  <a:srgbClr val="111111"/>
                </a:solidFill>
                <a:latin typeface="Courier New"/>
                <a:cs typeface="Courier New"/>
              </a:rPr>
              <a:t>2024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3015418" y="9719056"/>
            <a:ext cx="374650" cy="401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540"/>
              </a:lnSpc>
              <a:spcBef>
                <a:spcPts val="100"/>
              </a:spcBef>
            </a:pPr>
            <a:r>
              <a:rPr dirty="0" sz="1300" spc="-75">
                <a:solidFill>
                  <a:srgbClr val="1F1F1F"/>
                </a:solidFill>
                <a:latin typeface="Courier New"/>
                <a:cs typeface="Courier New"/>
              </a:rPr>
              <a:t>2021</a:t>
            </a:r>
            <a:endParaRPr sz="1300">
              <a:latin typeface="Courier New"/>
              <a:cs typeface="Courier New"/>
            </a:endParaRPr>
          </a:p>
          <a:p>
            <a:pPr marL="53340">
              <a:lnSpc>
                <a:spcPts val="1420"/>
              </a:lnSpc>
            </a:pPr>
            <a:r>
              <a:rPr dirty="0" sz="1200" spc="-20">
                <a:solidFill>
                  <a:srgbClr val="1D1D1D"/>
                </a:solidFill>
                <a:latin typeface="Arial MT"/>
                <a:cs typeface="Arial MT"/>
              </a:rPr>
              <a:t>Year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9889275" y="3324859"/>
            <a:ext cx="5530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0C0C0C"/>
                </a:solidFill>
                <a:latin typeface="Arial MT"/>
                <a:cs typeface="Arial MT"/>
              </a:rPr>
              <a:t>insights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0787539" y="1462877"/>
            <a:ext cx="2768600" cy="12293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 indent="8890">
              <a:lnSpc>
                <a:spcPct val="108900"/>
              </a:lnSpc>
              <a:spcBef>
                <a:spcPts val="95"/>
              </a:spcBef>
            </a:pPr>
            <a:r>
              <a:rPr dirty="0" sz="2450" spc="-10">
                <a:solidFill>
                  <a:srgbClr val="0E2F5E"/>
                </a:solidFill>
                <a:latin typeface="Arial MT"/>
                <a:cs typeface="Arial MT"/>
              </a:rPr>
              <a:t>Preferrable</a:t>
            </a:r>
            <a:r>
              <a:rPr dirty="0" sz="2450" spc="-25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0E2F5E"/>
                </a:solidFill>
                <a:latin typeface="Arial MT"/>
                <a:cs typeface="Arial MT"/>
              </a:rPr>
              <a:t>mode</a:t>
            </a:r>
            <a:r>
              <a:rPr dirty="0" sz="2450" spc="-135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450" spc="-25">
                <a:solidFill>
                  <a:srgbClr val="0E2F5E"/>
                </a:solidFill>
                <a:latin typeface="Arial MT"/>
                <a:cs typeface="Arial MT"/>
              </a:rPr>
              <a:t>of </a:t>
            </a:r>
            <a:r>
              <a:rPr dirty="0" sz="2400">
                <a:solidFill>
                  <a:srgbClr val="0E2F5E"/>
                </a:solidFill>
                <a:latin typeface="Arial MT"/>
                <a:cs typeface="Arial MT"/>
              </a:rPr>
              <a:t>transport</a:t>
            </a:r>
            <a:r>
              <a:rPr dirty="0" sz="2400" spc="365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0E2F5E"/>
                </a:solidFill>
                <a:latin typeface="Arial MT"/>
                <a:cs typeface="Arial MT"/>
              </a:rPr>
              <a:t>for </a:t>
            </a:r>
            <a:r>
              <a:rPr dirty="0" sz="2400">
                <a:solidFill>
                  <a:srgbClr val="0E2F5E"/>
                </a:solidFill>
                <a:latin typeface="Arial MT"/>
                <a:cs typeface="Arial MT"/>
              </a:rPr>
              <a:t>ambulance</a:t>
            </a:r>
            <a:r>
              <a:rPr dirty="0" sz="2400" spc="145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0E2F5E"/>
                </a:solidFill>
                <a:latin typeface="Arial MT"/>
                <a:cs typeface="Arial MT"/>
              </a:rPr>
              <a:t>services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9159244" y="3751071"/>
            <a:ext cx="533400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295">
                <a:latin typeface="Arial Black"/>
                <a:cs typeface="Arial Black"/>
              </a:rPr>
              <a:t>b0oe</a:t>
            </a:r>
            <a:endParaRPr sz="1900">
              <a:latin typeface="Arial Black"/>
              <a:cs typeface="Arial Black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10348615" y="3751071"/>
            <a:ext cx="614680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225">
                <a:latin typeface="Arial Black"/>
                <a:cs typeface="Arial Black"/>
              </a:rPr>
              <a:t>fb0oo</a:t>
            </a:r>
            <a:endParaRPr sz="1900">
              <a:latin typeface="Arial Black"/>
              <a:cs typeface="Arial Black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11316448" y="3751071"/>
            <a:ext cx="1560830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75690" algn="l"/>
              </a:tabLst>
            </a:pPr>
            <a:r>
              <a:rPr dirty="0" sz="1900" spc="-305">
                <a:latin typeface="Arial Black"/>
                <a:cs typeface="Arial Black"/>
              </a:rPr>
              <a:t>2ooke</a:t>
            </a:r>
            <a:r>
              <a:rPr dirty="0" sz="1900">
                <a:latin typeface="Arial Black"/>
                <a:cs typeface="Arial Black"/>
              </a:rPr>
              <a:t>	</a:t>
            </a:r>
            <a:r>
              <a:rPr dirty="0" sz="1900" spc="-220">
                <a:latin typeface="Arial Black"/>
                <a:cs typeface="Arial Black"/>
              </a:rPr>
              <a:t>8m+</a:t>
            </a:r>
            <a:endParaRPr sz="1900">
              <a:latin typeface="Arial Black"/>
              <a:cs typeface="Arial Black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6975368" y="6610604"/>
            <a:ext cx="52368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0E2F5E"/>
                </a:solidFill>
                <a:latin typeface="Arial MT"/>
                <a:cs typeface="Arial MT"/>
              </a:rPr>
              <a:t>Increased</a:t>
            </a:r>
            <a:r>
              <a:rPr dirty="0" sz="2400" spc="195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E2F5E"/>
                </a:solidFill>
                <a:latin typeface="Arial MT"/>
                <a:cs typeface="Arial MT"/>
              </a:rPr>
              <a:t>Competition</a:t>
            </a:r>
            <a:r>
              <a:rPr dirty="0" sz="2400" spc="195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E2F5E"/>
                </a:solidFill>
                <a:latin typeface="Arial MT"/>
                <a:cs typeface="Arial MT"/>
              </a:rPr>
              <a:t>for</a:t>
            </a:r>
            <a:r>
              <a:rPr dirty="0" sz="2400" spc="75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0E2F5E"/>
                </a:solidFill>
                <a:latin typeface="Arial MT"/>
                <a:cs typeface="Arial MT"/>
              </a:rPr>
              <a:t>Medulance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8027899" y="7464043"/>
            <a:ext cx="41084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0E2F5E"/>
                </a:solidFill>
                <a:latin typeface="Arial MT"/>
                <a:cs typeface="Arial MT"/>
              </a:rPr>
              <a:t>Hypertocal</a:t>
            </a:r>
            <a:r>
              <a:rPr dirty="0" sz="2400" spc="180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E2F5E"/>
                </a:solidFill>
                <a:latin typeface="Arial MT"/>
                <a:cs typeface="Arial MT"/>
              </a:rPr>
              <a:t>Logistics</a:t>
            </a:r>
            <a:r>
              <a:rPr dirty="0" sz="2400" spc="140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0E2F5E"/>
                </a:solidFill>
                <a:latin typeface="Arial MT"/>
                <a:cs typeface="Arial MT"/>
              </a:rPr>
              <a:t>Strength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7908004" y="8201659"/>
            <a:ext cx="4267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0E2F5E"/>
                </a:solidFill>
                <a:latin typeface="Arial MT"/>
                <a:cs typeface="Arial MT"/>
              </a:rPr>
              <a:t>Technological</a:t>
            </a:r>
            <a:r>
              <a:rPr dirty="0" sz="2400" spc="90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E2F5E"/>
                </a:solidFill>
                <a:latin typeface="Arial MT"/>
                <a:cs typeface="Arial MT"/>
              </a:rPr>
              <a:t>Upgrade</a:t>
            </a:r>
            <a:r>
              <a:rPr dirty="0" sz="2400" spc="110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E2F5E"/>
                </a:solidFill>
                <a:latin typeface="Arial MT"/>
                <a:cs typeface="Arial MT"/>
              </a:rPr>
              <a:t>in</a:t>
            </a:r>
            <a:r>
              <a:rPr dirty="0" sz="2400" spc="180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0E2F5E"/>
                </a:solidFill>
                <a:latin typeface="Arial MT"/>
                <a:cs typeface="Arial MT"/>
              </a:rPr>
              <a:t>EMS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8353828" y="8972550"/>
            <a:ext cx="3814445" cy="398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50" spc="-30">
                <a:solidFill>
                  <a:srgbClr val="0E2F5E"/>
                </a:solidFill>
                <a:latin typeface="Arial MT"/>
                <a:cs typeface="Arial MT"/>
              </a:rPr>
              <a:t>Extensive</a:t>
            </a:r>
            <a:r>
              <a:rPr dirty="0" sz="2450" spc="-70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0E2F5E"/>
                </a:solidFill>
                <a:latin typeface="Arial MT"/>
                <a:cs typeface="Arial MT"/>
              </a:rPr>
              <a:t>Delivery</a:t>
            </a:r>
            <a:r>
              <a:rPr dirty="0" sz="2450" spc="-155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0E2F5E"/>
                </a:solidFill>
                <a:latin typeface="Arial MT"/>
                <a:cs typeface="Arial MT"/>
              </a:rPr>
              <a:t>Network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7226357" y="9686035"/>
            <a:ext cx="49206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0E2F5E"/>
                </a:solidFill>
                <a:latin typeface="Arial MT"/>
                <a:cs typeface="Arial MT"/>
              </a:rPr>
              <a:t>Customer</a:t>
            </a:r>
            <a:r>
              <a:rPr dirty="0" sz="2400" spc="130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400" spc="-60">
                <a:solidFill>
                  <a:srgbClr val="0E2F5E"/>
                </a:solidFill>
                <a:latin typeface="Arial MT"/>
                <a:cs typeface="Arial MT"/>
              </a:rPr>
              <a:t>Data</a:t>
            </a:r>
            <a:r>
              <a:rPr dirty="0" sz="2400" spc="-55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E2F5E"/>
                </a:solidFill>
                <a:latin typeface="Arial MT"/>
                <a:cs typeface="Arial MT"/>
              </a:rPr>
              <a:t>in</a:t>
            </a:r>
            <a:r>
              <a:rPr dirty="0" sz="2400" spc="145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E2F5E"/>
                </a:solidFill>
                <a:latin typeface="Arial MT"/>
                <a:cs typeface="Arial MT"/>
              </a:rPr>
              <a:t>Medical</a:t>
            </a:r>
            <a:r>
              <a:rPr dirty="0" sz="2400" spc="-195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0E2F5E"/>
                </a:solidFill>
                <a:latin typeface="Arial MT"/>
                <a:cs typeface="Arial MT"/>
              </a:rPr>
              <a:t>purchase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15107488" y="1367185"/>
            <a:ext cx="810895" cy="676275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380"/>
              </a:spcBef>
            </a:pPr>
            <a:r>
              <a:rPr dirty="0" sz="2150" spc="75">
                <a:solidFill>
                  <a:srgbClr val="333333"/>
                </a:solidFill>
                <a:latin typeface="Arial MT"/>
                <a:cs typeface="Arial MT"/>
              </a:rPr>
              <a:t>North</a:t>
            </a:r>
            <a:endParaRPr sz="215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220"/>
              </a:spcBef>
            </a:pPr>
            <a:r>
              <a:rPr dirty="0" sz="1700" spc="-10">
                <a:solidFill>
                  <a:srgbClr val="262626"/>
                </a:solidFill>
                <a:latin typeface="Arial MT"/>
                <a:cs typeface="Arial MT"/>
              </a:rPr>
              <a:t>37.21</a:t>
            </a:r>
            <a:r>
              <a:rPr dirty="0" baseline="35087" sz="1425" spc="-15">
                <a:solidFill>
                  <a:srgbClr val="262626"/>
                </a:solidFill>
                <a:latin typeface="Arial MT"/>
                <a:cs typeface="Arial MT"/>
              </a:rPr>
              <a:t>0</a:t>
            </a:r>
            <a:r>
              <a:rPr dirty="0" sz="1700" spc="-10">
                <a:solidFill>
                  <a:srgbClr val="262626"/>
                </a:solidFill>
                <a:latin typeface="Arial MT"/>
                <a:cs typeface="Arial MT"/>
              </a:rPr>
              <a:t>6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13779551" y="2672333"/>
            <a:ext cx="765810" cy="6953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5720">
              <a:lnSpc>
                <a:spcPts val="2695"/>
              </a:lnSpc>
              <a:spcBef>
                <a:spcPts val="100"/>
              </a:spcBef>
            </a:pPr>
            <a:r>
              <a:rPr dirty="0" sz="2450" spc="-495">
                <a:solidFill>
                  <a:srgbClr val="333333"/>
                </a:solidFill>
                <a:latin typeface="Arial Black"/>
                <a:cs typeface="Arial Black"/>
              </a:rPr>
              <a:t>West</a:t>
            </a:r>
            <a:endParaRPr sz="2450">
              <a:latin typeface="Arial Black"/>
              <a:cs typeface="Arial Black"/>
            </a:endParaRPr>
          </a:p>
          <a:p>
            <a:pPr marL="12700">
              <a:lnSpc>
                <a:spcPts val="2575"/>
              </a:lnSpc>
            </a:pPr>
            <a:r>
              <a:rPr dirty="0" sz="2350" spc="-605">
                <a:solidFill>
                  <a:srgbClr val="282828"/>
                </a:solidFill>
                <a:latin typeface="Arial Black"/>
                <a:cs typeface="Arial Black"/>
              </a:rPr>
              <a:t>17.21%</a:t>
            </a:r>
            <a:endParaRPr sz="2350">
              <a:latin typeface="Arial Black"/>
              <a:cs typeface="Arial Black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14854643" y="3044697"/>
            <a:ext cx="1122680" cy="3835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11820" sz="3525" spc="-465">
                <a:solidFill>
                  <a:srgbClr val="B1B1B1"/>
                </a:solidFill>
                <a:latin typeface="Arial Black"/>
                <a:cs typeface="Arial Black"/>
              </a:rPr>
              <a:t>.</a:t>
            </a:r>
            <a:r>
              <a:rPr dirty="0" baseline="11820" sz="3525" spc="525">
                <a:solidFill>
                  <a:srgbClr val="B1B1B1"/>
                </a:solidFill>
                <a:latin typeface="Arial Black"/>
                <a:cs typeface="Arial Black"/>
              </a:rPr>
              <a:t> </a:t>
            </a:r>
            <a:r>
              <a:rPr dirty="0" sz="2350" spc="-395">
                <a:solidFill>
                  <a:srgbClr val="BABABA"/>
                </a:solidFill>
                <a:latin typeface="Arial Black"/>
                <a:cs typeface="Arial Black"/>
              </a:rPr>
              <a:t>.</a:t>
            </a:r>
            <a:r>
              <a:rPr dirty="0" sz="2350" spc="35">
                <a:solidFill>
                  <a:srgbClr val="BABABA"/>
                </a:solidFill>
                <a:latin typeface="Arial Black"/>
                <a:cs typeface="Arial Black"/>
              </a:rPr>
              <a:t> </a:t>
            </a:r>
            <a:r>
              <a:rPr dirty="0" sz="2350" spc="-320">
                <a:solidFill>
                  <a:srgbClr val="C4C4C4"/>
                </a:solidFill>
                <a:latin typeface="Arial Black"/>
                <a:cs typeface="Arial Black"/>
              </a:rPr>
              <a:t>’2022</a:t>
            </a:r>
            <a:endParaRPr sz="2350">
              <a:latin typeface="Arial Black"/>
              <a:cs typeface="Arial Black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15132355" y="4370782"/>
            <a:ext cx="777875" cy="668655"/>
          </a:xfrm>
          <a:prstGeom prst="rect">
            <a:avLst/>
          </a:prstGeom>
        </p:spPr>
        <p:txBody>
          <a:bodyPr wrap="square" lIns="0" tIns="349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dirty="0" sz="2150" spc="-10">
                <a:solidFill>
                  <a:srgbClr val="1F464B"/>
                </a:solidFill>
                <a:latin typeface="Arial MT"/>
                <a:cs typeface="Arial MT"/>
              </a:rPr>
              <a:t>South</a:t>
            </a:r>
            <a:endParaRPr sz="21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1800" spc="-30">
                <a:solidFill>
                  <a:srgbClr val="2D2D2D"/>
                </a:solidFill>
                <a:latin typeface="Arial MT"/>
                <a:cs typeface="Arial MT"/>
              </a:rPr>
              <a:t>34.67%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16813339" y="2669285"/>
            <a:ext cx="757555" cy="695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8905">
              <a:lnSpc>
                <a:spcPts val="2760"/>
              </a:lnSpc>
              <a:spcBef>
                <a:spcPts val="100"/>
              </a:spcBef>
            </a:pPr>
            <a:r>
              <a:rPr dirty="0" sz="2450" spc="-565">
                <a:solidFill>
                  <a:srgbClr val="2D2D2D"/>
                </a:solidFill>
                <a:latin typeface="Arial Black"/>
                <a:cs typeface="Arial Black"/>
              </a:rPr>
              <a:t>East</a:t>
            </a:r>
            <a:endParaRPr sz="2450">
              <a:latin typeface="Arial Black"/>
              <a:cs typeface="Arial Black"/>
            </a:endParaRPr>
          </a:p>
          <a:p>
            <a:pPr marL="12700">
              <a:lnSpc>
                <a:spcPts val="2520"/>
              </a:lnSpc>
            </a:pPr>
            <a:r>
              <a:rPr dirty="0" sz="2250" spc="-550">
                <a:solidFill>
                  <a:srgbClr val="282828"/>
                </a:solidFill>
                <a:latin typeface="Arial Black"/>
                <a:cs typeface="Arial Black"/>
              </a:rPr>
              <a:t>10.91%</a:t>
            </a:r>
            <a:endParaRPr sz="2250">
              <a:latin typeface="Arial Black"/>
              <a:cs typeface="Arial Black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15305557" y="6625843"/>
            <a:ext cx="28282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0E2F5E"/>
                </a:solidFill>
                <a:latin typeface="Arial MT"/>
                <a:cs typeface="Arial MT"/>
              </a:rPr>
              <a:t>Intense</a:t>
            </a:r>
            <a:r>
              <a:rPr dirty="0" sz="2400" spc="-25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0E2F5E"/>
                </a:solidFill>
                <a:latin typeface="Arial MT"/>
                <a:cs typeface="Arial MT"/>
              </a:rPr>
              <a:t>Competition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15153614" y="7475982"/>
            <a:ext cx="3016885" cy="398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50">
                <a:solidFill>
                  <a:srgbClr val="0E2F5E"/>
                </a:solidFill>
                <a:latin typeface="Arial MT"/>
                <a:cs typeface="Arial MT"/>
              </a:rPr>
              <a:t>High</a:t>
            </a:r>
            <a:r>
              <a:rPr dirty="0" sz="2450" spc="-85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0E2F5E"/>
                </a:solidFill>
                <a:latin typeface="Arial MT"/>
                <a:cs typeface="Arial MT"/>
              </a:rPr>
              <a:t>operational</a:t>
            </a:r>
            <a:r>
              <a:rPr dirty="0" sz="2450" spc="-5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450" spc="-20">
                <a:solidFill>
                  <a:srgbClr val="0E2F5E"/>
                </a:solidFill>
                <a:latin typeface="Arial MT"/>
                <a:cs typeface="Arial MT"/>
              </a:rPr>
              <a:t>Cost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14237957" y="8244078"/>
            <a:ext cx="3961129" cy="398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50" spc="-25">
                <a:solidFill>
                  <a:srgbClr val="0E2F5E"/>
                </a:solidFill>
                <a:latin typeface="Arial MT"/>
                <a:cs typeface="Arial MT"/>
              </a:rPr>
              <a:t>Slow</a:t>
            </a:r>
            <a:r>
              <a:rPr dirty="0" sz="2450" spc="-204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0E2F5E"/>
                </a:solidFill>
                <a:latin typeface="Arial MT"/>
                <a:cs typeface="Arial MT"/>
              </a:rPr>
              <a:t>Government</a:t>
            </a:r>
            <a:r>
              <a:rPr dirty="0" sz="2450" spc="35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0E2F5E"/>
                </a:solidFill>
                <a:latin typeface="Arial MT"/>
                <a:cs typeface="Arial MT"/>
              </a:rPr>
              <a:t>Approvals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14644141" y="9000235"/>
            <a:ext cx="35306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65">
                <a:solidFill>
                  <a:srgbClr val="0E2F5E"/>
                </a:solidFill>
                <a:latin typeface="Arial MT"/>
                <a:cs typeface="Arial MT"/>
              </a:rPr>
              <a:t>Infrastructure</a:t>
            </a:r>
            <a:r>
              <a:rPr dirty="0" sz="2400" spc="-229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0E2F5E"/>
                </a:solidFill>
                <a:latin typeface="Arial MT"/>
                <a:cs typeface="Arial MT"/>
              </a:rPr>
              <a:t>Limitations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13690117" y="9698228"/>
            <a:ext cx="44323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60">
                <a:solidFill>
                  <a:srgbClr val="0E2F5E"/>
                </a:solidFill>
                <a:latin typeface="Arial MT"/>
                <a:cs typeface="Arial MT"/>
              </a:rPr>
              <a:t>Limited</a:t>
            </a:r>
            <a:r>
              <a:rPr dirty="0" sz="2400" spc="-110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E2F5E"/>
                </a:solidFill>
                <a:latin typeface="Arial MT"/>
                <a:cs typeface="Arial MT"/>
              </a:rPr>
              <a:t>App-Driven</a:t>
            </a:r>
            <a:r>
              <a:rPr dirty="0" sz="2400" spc="5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0E2F5E"/>
                </a:solidFill>
                <a:latin typeface="Arial MT"/>
                <a:cs typeface="Arial MT"/>
              </a:rPr>
              <a:t>Accessbility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047"/>
            <a:ext cx="18288000" cy="1028395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6202" rIns="0" bIns="0" rtlCol="0" vert="horz">
            <a:spAutoFit/>
          </a:bodyPr>
          <a:lstStyle/>
          <a:p>
            <a:pPr marL="175260">
              <a:lnSpc>
                <a:spcPct val="100000"/>
              </a:lnSpc>
              <a:spcBef>
                <a:spcPts val="100"/>
              </a:spcBef>
            </a:pPr>
            <a:r>
              <a:rPr dirty="0" sz="4050" spc="-215"/>
              <a:t>RED</a:t>
            </a:r>
            <a:r>
              <a:rPr dirty="0" sz="4050" spc="-215"/>
              <a:t>U</a:t>
            </a:r>
            <a:r>
              <a:rPr dirty="0" sz="4050" spc="-215"/>
              <a:t>CE</a:t>
            </a:r>
            <a:r>
              <a:rPr dirty="0" sz="4050" spc="-640"/>
              <a:t> </a:t>
            </a:r>
            <a:r>
              <a:rPr dirty="0" sz="4050" spc="-240"/>
              <a:t>MEDULANCE'</a:t>
            </a:r>
            <a:r>
              <a:rPr dirty="0" sz="4050" spc="-240"/>
              <a:t>S</a:t>
            </a:r>
            <a:r>
              <a:rPr dirty="0" sz="4050" spc="-95"/>
              <a:t> </a:t>
            </a:r>
            <a:r>
              <a:rPr dirty="0" sz="4050" spc="-165"/>
              <a:t>AMB</a:t>
            </a:r>
            <a:r>
              <a:rPr dirty="0" sz="4050" spc="-165"/>
              <a:t>U</a:t>
            </a:r>
            <a:r>
              <a:rPr dirty="0" sz="4050" spc="-165"/>
              <a:t>LANCERESPONSE</a:t>
            </a:r>
            <a:r>
              <a:rPr dirty="0" sz="4050" spc="5"/>
              <a:t> </a:t>
            </a:r>
            <a:r>
              <a:rPr dirty="0" sz="4050" spc="-365"/>
              <a:t>TIME</a:t>
            </a:r>
            <a:endParaRPr sz="4050"/>
          </a:p>
        </p:txBody>
      </p:sp>
      <p:sp>
        <p:nvSpPr>
          <p:cNvPr id="4" name="object 4" descr=""/>
          <p:cNvSpPr txBox="1"/>
          <p:nvPr/>
        </p:nvSpPr>
        <p:spPr>
          <a:xfrm>
            <a:off x="107579" y="1336505"/>
            <a:ext cx="5278120" cy="1296035"/>
          </a:xfrm>
          <a:prstGeom prst="rect">
            <a:avLst/>
          </a:prstGeom>
        </p:spPr>
        <p:txBody>
          <a:bodyPr wrap="square" lIns="0" tIns="144145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1135"/>
              </a:spcBef>
            </a:pPr>
            <a:r>
              <a:rPr dirty="0" sz="2450" spc="-25">
                <a:solidFill>
                  <a:srgbClr val="0E2F5E"/>
                </a:solidFill>
                <a:latin typeface="Arial MT"/>
                <a:cs typeface="Arial MT"/>
              </a:rPr>
              <a:t>Micro-</a:t>
            </a:r>
            <a:r>
              <a:rPr dirty="0" sz="2450">
                <a:solidFill>
                  <a:srgbClr val="0E2F5E"/>
                </a:solidFill>
                <a:latin typeface="Arial MT"/>
                <a:cs typeface="Arial MT"/>
              </a:rPr>
              <a:t>Hub</a:t>
            </a:r>
            <a:r>
              <a:rPr dirty="0" sz="2450" spc="-45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0E2F5E"/>
                </a:solidFill>
                <a:latin typeface="Arial MT"/>
                <a:cs typeface="Arial MT"/>
              </a:rPr>
              <a:t>Ambulance</a:t>
            </a:r>
            <a:r>
              <a:rPr dirty="0" sz="2450" spc="-110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0E2F5E"/>
                </a:solidFill>
                <a:latin typeface="Arial MT"/>
                <a:cs typeface="Arial MT"/>
              </a:rPr>
              <a:t>Stations:</a:t>
            </a:r>
            <a:endParaRPr sz="2450">
              <a:latin typeface="Arial MT"/>
              <a:cs typeface="Arial MT"/>
            </a:endParaRPr>
          </a:p>
          <a:p>
            <a:pPr marL="12700" marR="5080" indent="4445">
              <a:lnSpc>
                <a:spcPct val="103800"/>
              </a:lnSpc>
              <a:spcBef>
                <a:spcPts val="795"/>
              </a:spcBef>
              <a:tabLst>
                <a:tab pos="520700" algn="l"/>
                <a:tab pos="1234440" algn="l"/>
                <a:tab pos="2663825" algn="l"/>
                <a:tab pos="3884295" algn="l"/>
              </a:tabLst>
            </a:pPr>
            <a:r>
              <a:rPr dirty="0" sz="2100" spc="-25">
                <a:solidFill>
                  <a:srgbClr val="0E2F5E"/>
                </a:solidFill>
                <a:latin typeface="Arial MT"/>
                <a:cs typeface="Arial MT"/>
              </a:rPr>
              <a:t>We</a:t>
            </a:r>
            <a:r>
              <a:rPr dirty="0" sz="2100">
                <a:solidFill>
                  <a:srgbClr val="0E2F5E"/>
                </a:solidFill>
                <a:latin typeface="Arial MT"/>
                <a:cs typeface="Arial MT"/>
              </a:rPr>
              <a:t>	</a:t>
            </a:r>
            <a:r>
              <a:rPr dirty="0" sz="2100" spc="-20">
                <a:solidFill>
                  <a:srgbClr val="0E2F5E"/>
                </a:solidFill>
                <a:latin typeface="Arial MT"/>
                <a:cs typeface="Arial MT"/>
              </a:rPr>
              <a:t>need</a:t>
            </a:r>
            <a:r>
              <a:rPr dirty="0" sz="2100">
                <a:solidFill>
                  <a:srgbClr val="0E2F5E"/>
                </a:solidFill>
                <a:latin typeface="Arial MT"/>
                <a:cs typeface="Arial MT"/>
              </a:rPr>
              <a:t>	</a:t>
            </a:r>
            <a:r>
              <a:rPr dirty="0" sz="2100" spc="55">
                <a:solidFill>
                  <a:srgbClr val="0E2F5E"/>
                </a:solidFill>
                <a:latin typeface="Arial MT"/>
                <a:cs typeface="Arial MT"/>
              </a:rPr>
              <a:t>to</a:t>
            </a:r>
            <a:r>
              <a:rPr dirty="0" sz="2100" spc="390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100" spc="-10">
                <a:solidFill>
                  <a:srgbClr val="0E2F5E"/>
                </a:solidFill>
                <a:latin typeface="Arial MT"/>
                <a:cs typeface="Arial MT"/>
              </a:rPr>
              <a:t>develop</a:t>
            </a:r>
            <a:r>
              <a:rPr dirty="0" sz="2100">
                <a:solidFill>
                  <a:srgbClr val="0E2F5E"/>
                </a:solidFill>
                <a:latin typeface="Arial MT"/>
                <a:cs typeface="Arial MT"/>
              </a:rPr>
              <a:t>	</a:t>
            </a:r>
            <a:r>
              <a:rPr dirty="0" sz="2100" spc="-10">
                <a:solidFill>
                  <a:srgbClr val="0E2F5E"/>
                </a:solidFill>
                <a:latin typeface="Arial MT"/>
                <a:cs typeface="Arial MT"/>
              </a:rPr>
              <a:t>stationed</a:t>
            </a:r>
            <a:r>
              <a:rPr dirty="0" sz="2100">
                <a:solidFill>
                  <a:srgbClr val="0E2F5E"/>
                </a:solidFill>
                <a:latin typeface="Arial MT"/>
                <a:cs typeface="Arial MT"/>
              </a:rPr>
              <a:t>	</a:t>
            </a:r>
            <a:r>
              <a:rPr dirty="0" sz="2100" spc="-55">
                <a:solidFill>
                  <a:srgbClr val="0E2F5E"/>
                </a:solidFill>
                <a:latin typeface="Arial MT"/>
                <a:cs typeface="Arial MT"/>
              </a:rPr>
              <a:t>ambulances </a:t>
            </a:r>
            <a:r>
              <a:rPr dirty="0" sz="2100">
                <a:solidFill>
                  <a:srgbClr val="0E2F5E"/>
                </a:solidFill>
                <a:latin typeface="Arial MT"/>
                <a:cs typeface="Arial MT"/>
              </a:rPr>
              <a:t>that</a:t>
            </a:r>
            <a:r>
              <a:rPr dirty="0" sz="2100" spc="-135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100" spc="-25">
                <a:solidFill>
                  <a:srgbClr val="0E2F5E"/>
                </a:solidFill>
                <a:latin typeface="Arial MT"/>
                <a:cs typeface="Arial MT"/>
              </a:rPr>
              <a:t>is</a:t>
            </a:r>
            <a:r>
              <a:rPr dirty="0" sz="2100" spc="-215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100" spc="-20">
                <a:solidFill>
                  <a:srgbClr val="0E2F5E"/>
                </a:solidFill>
                <a:latin typeface="Arial MT"/>
                <a:cs typeface="Arial MT"/>
              </a:rPr>
              <a:t>similar </a:t>
            </a:r>
            <a:r>
              <a:rPr dirty="0" sz="2100">
                <a:solidFill>
                  <a:srgbClr val="0E2F5E"/>
                </a:solidFill>
                <a:latin typeface="Arial MT"/>
                <a:cs typeface="Arial MT"/>
              </a:rPr>
              <a:t>to</a:t>
            </a:r>
            <a:r>
              <a:rPr dirty="0" sz="2100" spc="-160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0E2F5E"/>
                </a:solidFill>
                <a:latin typeface="Arial MT"/>
                <a:cs typeface="Arial MT"/>
              </a:rPr>
              <a:t>Blinkit's</a:t>
            </a:r>
            <a:r>
              <a:rPr dirty="0" sz="2100" spc="-75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100" spc="-20">
                <a:solidFill>
                  <a:srgbClr val="0E2F5E"/>
                </a:solidFill>
                <a:latin typeface="Arial MT"/>
                <a:cs typeface="Arial MT"/>
              </a:rPr>
              <a:t>Hyperlocal</a:t>
            </a:r>
            <a:r>
              <a:rPr dirty="0" sz="2100" spc="-85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100" spc="-10">
                <a:solidFill>
                  <a:srgbClr val="0E2F5E"/>
                </a:solidFill>
                <a:latin typeface="Arial MT"/>
                <a:cs typeface="Arial MT"/>
              </a:rPr>
              <a:t>Model.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04898" y="2860505"/>
            <a:ext cx="5310505" cy="3427095"/>
          </a:xfrm>
          <a:prstGeom prst="rect">
            <a:avLst/>
          </a:prstGeom>
        </p:spPr>
        <p:txBody>
          <a:bodyPr wrap="square" lIns="0" tIns="144145" rIns="0" bIns="0" rtlCol="0" vert="horz">
            <a:spAutoFit/>
          </a:bodyPr>
          <a:lstStyle/>
          <a:p>
            <a:pPr algn="just" marL="15240">
              <a:lnSpc>
                <a:spcPct val="100000"/>
              </a:lnSpc>
              <a:spcBef>
                <a:spcPts val="1135"/>
              </a:spcBef>
            </a:pPr>
            <a:r>
              <a:rPr dirty="0" sz="2450">
                <a:solidFill>
                  <a:srgbClr val="0E2F5E"/>
                </a:solidFill>
                <a:latin typeface="Arial MT"/>
                <a:cs typeface="Arial MT"/>
              </a:rPr>
              <a:t>Telemedicine</a:t>
            </a:r>
            <a:r>
              <a:rPr dirty="0" sz="2450" spc="-95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0E2F5E"/>
                </a:solidFill>
                <a:latin typeface="Arial MT"/>
                <a:cs typeface="Arial MT"/>
              </a:rPr>
              <a:t>Integration:</a:t>
            </a:r>
            <a:endParaRPr sz="2450">
              <a:latin typeface="Arial MT"/>
              <a:cs typeface="Arial MT"/>
            </a:endParaRPr>
          </a:p>
          <a:p>
            <a:pPr algn="just" marL="12700" marR="15240" indent="4445">
              <a:lnSpc>
                <a:spcPct val="104299"/>
              </a:lnSpc>
              <a:spcBef>
                <a:spcPts val="785"/>
              </a:spcBef>
              <a:tabLst>
                <a:tab pos="3340100" algn="l"/>
              </a:tabLst>
            </a:pPr>
            <a:r>
              <a:rPr dirty="0" sz="2100">
                <a:solidFill>
                  <a:srgbClr val="0E2F5E"/>
                </a:solidFill>
                <a:latin typeface="Arial MT"/>
                <a:cs typeface="Arial MT"/>
              </a:rPr>
              <a:t>Equipped</a:t>
            </a:r>
            <a:r>
              <a:rPr dirty="0" sz="2100" spc="55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0E2F5E"/>
                </a:solidFill>
                <a:latin typeface="Arial MT"/>
                <a:cs typeface="Arial MT"/>
              </a:rPr>
              <a:t>that</a:t>
            </a:r>
            <a:r>
              <a:rPr dirty="0" sz="2100" spc="25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0E2F5E"/>
                </a:solidFill>
                <a:latin typeface="Arial MT"/>
                <a:cs typeface="Arial MT"/>
              </a:rPr>
              <a:t>ambulances</a:t>
            </a:r>
            <a:r>
              <a:rPr dirty="0" sz="2100" spc="120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0E2F5E"/>
                </a:solidFill>
                <a:latin typeface="Arial MT"/>
                <a:cs typeface="Arial MT"/>
              </a:rPr>
              <a:t>which</a:t>
            </a:r>
            <a:r>
              <a:rPr dirty="0" sz="2100" spc="20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0E2F5E"/>
                </a:solidFill>
                <a:latin typeface="Arial MT"/>
                <a:cs typeface="Arial MT"/>
              </a:rPr>
              <a:t>are</a:t>
            </a:r>
            <a:r>
              <a:rPr dirty="0" sz="2100" spc="-20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100" spc="-10">
                <a:solidFill>
                  <a:srgbClr val="0E2F5E"/>
                </a:solidFill>
                <a:latin typeface="Arial MT"/>
                <a:cs typeface="Arial MT"/>
              </a:rPr>
              <a:t>having </a:t>
            </a:r>
            <a:r>
              <a:rPr dirty="0" sz="2100">
                <a:solidFill>
                  <a:srgbClr val="0E2F5E"/>
                </a:solidFill>
                <a:latin typeface="Arial MT"/>
                <a:cs typeface="Arial MT"/>
              </a:rPr>
              <a:t>telemedicine</a:t>
            </a:r>
            <a:r>
              <a:rPr dirty="0" sz="2100" spc="370">
                <a:solidFill>
                  <a:srgbClr val="0E2F5E"/>
                </a:solidFill>
                <a:latin typeface="Arial MT"/>
                <a:cs typeface="Arial MT"/>
              </a:rPr>
              <a:t>   </a:t>
            </a:r>
            <a:r>
              <a:rPr dirty="0" sz="2100" spc="-20">
                <a:solidFill>
                  <a:srgbClr val="0E2F5E"/>
                </a:solidFill>
                <a:latin typeface="Arial MT"/>
                <a:cs typeface="Arial MT"/>
              </a:rPr>
              <a:t>kits</a:t>
            </a:r>
            <a:r>
              <a:rPr dirty="0" sz="2100">
                <a:solidFill>
                  <a:srgbClr val="0E2F5E"/>
                </a:solidFill>
                <a:latin typeface="Arial MT"/>
                <a:cs typeface="Arial MT"/>
              </a:rPr>
              <a:t>	remote</a:t>
            </a:r>
            <a:r>
              <a:rPr dirty="0" sz="2100" spc="345">
                <a:solidFill>
                  <a:srgbClr val="0E2F5E"/>
                </a:solidFill>
                <a:latin typeface="Arial MT"/>
                <a:cs typeface="Arial MT"/>
              </a:rPr>
              <a:t>   </a:t>
            </a:r>
            <a:r>
              <a:rPr dirty="0" sz="2100" spc="-10">
                <a:solidFill>
                  <a:srgbClr val="0E2F5E"/>
                </a:solidFill>
                <a:latin typeface="Arial MT"/>
                <a:cs typeface="Arial MT"/>
              </a:rPr>
              <a:t>doctor consultations</a:t>
            </a:r>
            <a:r>
              <a:rPr dirty="0" sz="2100" spc="-25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100" spc="-20">
                <a:solidFill>
                  <a:srgbClr val="0E2F5E"/>
                </a:solidFill>
                <a:latin typeface="Arial MT"/>
                <a:cs typeface="Arial MT"/>
              </a:rPr>
              <a:t>before</a:t>
            </a:r>
            <a:r>
              <a:rPr dirty="0" sz="2100" spc="-125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0E2F5E"/>
                </a:solidFill>
                <a:latin typeface="Arial MT"/>
                <a:cs typeface="Arial MT"/>
              </a:rPr>
              <a:t>pickup</a:t>
            </a:r>
            <a:r>
              <a:rPr dirty="0" sz="2100" spc="-125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100" spc="-20">
                <a:solidFill>
                  <a:srgbClr val="0E2F5E"/>
                </a:solidFill>
                <a:latin typeface="Arial MT"/>
                <a:cs typeface="Arial MT"/>
              </a:rPr>
              <a:t>of</a:t>
            </a:r>
            <a:r>
              <a:rPr dirty="0" sz="2100" spc="-85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100" spc="-10">
                <a:solidFill>
                  <a:srgbClr val="0E2F5E"/>
                </a:solidFill>
                <a:latin typeface="Arial MT"/>
                <a:cs typeface="Arial MT"/>
              </a:rPr>
              <a:t>patient.</a:t>
            </a:r>
            <a:endParaRPr sz="2100">
              <a:latin typeface="Arial MT"/>
              <a:cs typeface="Arial MT"/>
            </a:endParaRPr>
          </a:p>
          <a:p>
            <a:pPr algn="just" marL="20320">
              <a:lnSpc>
                <a:spcPct val="100000"/>
              </a:lnSpc>
              <a:spcBef>
                <a:spcPts val="2190"/>
              </a:spcBef>
            </a:pPr>
            <a:r>
              <a:rPr dirty="0" sz="2450">
                <a:solidFill>
                  <a:srgbClr val="0E2F5E"/>
                </a:solidFill>
                <a:latin typeface="Arial MT"/>
                <a:cs typeface="Arial MT"/>
              </a:rPr>
              <a:t>Dynamic</a:t>
            </a:r>
            <a:r>
              <a:rPr dirty="0" sz="2450" spc="-150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0E2F5E"/>
                </a:solidFill>
                <a:latin typeface="Arial MT"/>
                <a:cs typeface="Arial MT"/>
              </a:rPr>
              <a:t>Routing</a:t>
            </a:r>
            <a:r>
              <a:rPr dirty="0" sz="2450" spc="-170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0E2F5E"/>
                </a:solidFill>
                <a:latin typeface="Arial MT"/>
                <a:cs typeface="Arial MT"/>
              </a:rPr>
              <a:t>System:</a:t>
            </a:r>
            <a:endParaRPr sz="2450">
              <a:latin typeface="Arial MT"/>
              <a:cs typeface="Arial MT"/>
            </a:endParaRPr>
          </a:p>
          <a:p>
            <a:pPr algn="just" marL="15875" marR="5080" indent="3175">
              <a:lnSpc>
                <a:spcPct val="104299"/>
              </a:lnSpc>
              <a:spcBef>
                <a:spcPts val="1120"/>
              </a:spcBef>
            </a:pPr>
            <a:r>
              <a:rPr dirty="0" sz="2100">
                <a:solidFill>
                  <a:srgbClr val="0E2F5E"/>
                </a:solidFill>
                <a:latin typeface="Arial MT"/>
                <a:cs typeface="Arial MT"/>
              </a:rPr>
              <a:t>We</a:t>
            </a:r>
            <a:r>
              <a:rPr dirty="0" sz="2100" spc="229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0E2F5E"/>
                </a:solidFill>
                <a:latin typeface="Arial MT"/>
                <a:cs typeface="Arial MT"/>
              </a:rPr>
              <a:t>need</a:t>
            </a:r>
            <a:r>
              <a:rPr dirty="0" sz="2100" spc="254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100" spc="55">
                <a:solidFill>
                  <a:srgbClr val="0E2F5E"/>
                </a:solidFill>
                <a:latin typeface="Arial MT"/>
                <a:cs typeface="Arial MT"/>
              </a:rPr>
              <a:t>to</a:t>
            </a:r>
            <a:r>
              <a:rPr dirty="0" sz="2100" spc="165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0E2F5E"/>
                </a:solidFill>
                <a:latin typeface="Arial MT"/>
                <a:cs typeface="Arial MT"/>
              </a:rPr>
              <a:t>develop</a:t>
            </a:r>
            <a:r>
              <a:rPr dirty="0" sz="2100" spc="310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0E2F5E"/>
                </a:solidFill>
                <a:latin typeface="Arial MT"/>
                <a:cs typeface="Arial MT"/>
              </a:rPr>
              <a:t>real</a:t>
            </a:r>
            <a:r>
              <a:rPr dirty="0" sz="2100" spc="155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0E2F5E"/>
                </a:solidFill>
                <a:latin typeface="Arial MT"/>
                <a:cs typeface="Arial MT"/>
              </a:rPr>
              <a:t>time</a:t>
            </a:r>
            <a:r>
              <a:rPr dirty="0" sz="2100" spc="260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100" spc="-270">
                <a:solidFill>
                  <a:srgbClr val="0E2F5E"/>
                </a:solidFill>
                <a:latin typeface="Arial MT"/>
                <a:cs typeface="Arial MT"/>
              </a:rPr>
              <a:t>GPS</a:t>
            </a:r>
            <a:r>
              <a:rPr dirty="0" sz="2100" spc="240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100" spc="-10">
                <a:solidFill>
                  <a:srgbClr val="0E2F5E"/>
                </a:solidFill>
                <a:latin typeface="Arial MT"/>
                <a:cs typeface="Arial MT"/>
              </a:rPr>
              <a:t>tracking </a:t>
            </a:r>
            <a:r>
              <a:rPr dirty="0" sz="2100">
                <a:solidFill>
                  <a:srgbClr val="0E2F5E"/>
                </a:solidFill>
                <a:latin typeface="Arial MT"/>
                <a:cs typeface="Arial MT"/>
              </a:rPr>
              <a:t>with</a:t>
            </a:r>
            <a:r>
              <a:rPr dirty="0" sz="2100" spc="135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0E2F5E"/>
                </a:solidFill>
                <a:latin typeface="Arial MT"/>
                <a:cs typeface="Arial MT"/>
              </a:rPr>
              <a:t>Al</a:t>
            </a:r>
            <a:r>
              <a:rPr dirty="0" sz="2100" spc="55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0E2F5E"/>
                </a:solidFill>
                <a:latin typeface="Arial MT"/>
                <a:cs typeface="Arial MT"/>
              </a:rPr>
              <a:t>driven</a:t>
            </a:r>
            <a:r>
              <a:rPr dirty="0" sz="2100" spc="125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0E2F5E"/>
                </a:solidFill>
                <a:latin typeface="Arial MT"/>
                <a:cs typeface="Arial MT"/>
              </a:rPr>
              <a:t>route</a:t>
            </a:r>
            <a:r>
              <a:rPr dirty="0" sz="2100" spc="150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0E2F5E"/>
                </a:solidFill>
                <a:latin typeface="Arial MT"/>
                <a:cs typeface="Arial MT"/>
              </a:rPr>
              <a:t>for</a:t>
            </a:r>
            <a:r>
              <a:rPr dirty="0" sz="2100" spc="140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0E2F5E"/>
                </a:solidFill>
                <a:latin typeface="Arial MT"/>
                <a:cs typeface="Arial MT"/>
              </a:rPr>
              <a:t>route</a:t>
            </a:r>
            <a:r>
              <a:rPr dirty="0" sz="2100" spc="95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0E2F5E"/>
                </a:solidFill>
                <a:latin typeface="Arial MT"/>
                <a:cs typeface="Arial MT"/>
              </a:rPr>
              <a:t>optimization</a:t>
            </a:r>
            <a:r>
              <a:rPr dirty="0" sz="2100" spc="225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100" spc="30">
                <a:solidFill>
                  <a:srgbClr val="0E2F5E"/>
                </a:solidFill>
                <a:latin typeface="Arial MT"/>
                <a:cs typeface="Arial MT"/>
              </a:rPr>
              <a:t>to </a:t>
            </a:r>
            <a:r>
              <a:rPr dirty="0" sz="2100" spc="-20">
                <a:solidFill>
                  <a:srgbClr val="0E2F5E"/>
                </a:solidFill>
                <a:latin typeface="Arial MT"/>
                <a:cs typeface="Arial MT"/>
              </a:rPr>
              <a:t>avoid</a:t>
            </a:r>
            <a:r>
              <a:rPr dirty="0" sz="2100" spc="-155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0E2F5E"/>
                </a:solidFill>
                <a:latin typeface="Arial MT"/>
                <a:cs typeface="Arial MT"/>
              </a:rPr>
              <a:t>traffic</a:t>
            </a:r>
            <a:r>
              <a:rPr dirty="0" sz="2100" spc="-75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100" spc="-10">
                <a:solidFill>
                  <a:srgbClr val="0E2F5E"/>
                </a:solidFill>
                <a:latin typeface="Arial MT"/>
                <a:cs typeface="Arial MT"/>
              </a:rPr>
              <a:t>delays.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05548" y="6474925"/>
            <a:ext cx="5309870" cy="1638300"/>
          </a:xfrm>
          <a:prstGeom prst="rect">
            <a:avLst/>
          </a:prstGeom>
        </p:spPr>
        <p:txBody>
          <a:bodyPr wrap="square" lIns="0" tIns="147955" rIns="0" bIns="0" rtlCol="0" vert="horz">
            <a:spAutoFit/>
          </a:bodyPr>
          <a:lstStyle/>
          <a:p>
            <a:pPr algn="just" marL="19685">
              <a:lnSpc>
                <a:spcPct val="100000"/>
              </a:lnSpc>
              <a:spcBef>
                <a:spcPts val="1165"/>
              </a:spcBef>
            </a:pPr>
            <a:r>
              <a:rPr dirty="0" sz="2450" spc="-35">
                <a:solidFill>
                  <a:srgbClr val="0E2F5E"/>
                </a:solidFill>
                <a:latin typeface="Arial MT"/>
                <a:cs typeface="Arial MT"/>
              </a:rPr>
              <a:t>AI</a:t>
            </a:r>
            <a:r>
              <a:rPr dirty="0" sz="2450" spc="-285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450" spc="-25">
                <a:solidFill>
                  <a:srgbClr val="0E2F5E"/>
                </a:solidFill>
                <a:latin typeface="Arial MT"/>
                <a:cs typeface="Arial MT"/>
              </a:rPr>
              <a:t>Powered</a:t>
            </a:r>
            <a:r>
              <a:rPr dirty="0" sz="2450" spc="-85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0E2F5E"/>
                </a:solidFill>
                <a:latin typeface="Arial MT"/>
                <a:cs typeface="Arial MT"/>
              </a:rPr>
              <a:t>Dispatching:</a:t>
            </a:r>
            <a:endParaRPr sz="2450">
              <a:latin typeface="Arial MT"/>
              <a:cs typeface="Arial MT"/>
            </a:endParaRPr>
          </a:p>
          <a:p>
            <a:pPr algn="just" marL="12700" marR="5080" indent="6350">
              <a:lnSpc>
                <a:spcPct val="104299"/>
              </a:lnSpc>
              <a:spcBef>
                <a:spcPts val="805"/>
              </a:spcBef>
            </a:pPr>
            <a:r>
              <a:rPr dirty="0" sz="2100">
                <a:solidFill>
                  <a:srgbClr val="0E2F5E"/>
                </a:solidFill>
                <a:latin typeface="Arial MT"/>
                <a:cs typeface="Arial MT"/>
              </a:rPr>
              <a:t>We</a:t>
            </a:r>
            <a:r>
              <a:rPr dirty="0" sz="2100" spc="245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0E2F5E"/>
                </a:solidFill>
                <a:latin typeface="Arial MT"/>
                <a:cs typeface="Arial MT"/>
              </a:rPr>
              <a:t>are</a:t>
            </a:r>
            <a:r>
              <a:rPr dirty="0" sz="2100" spc="215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0E2F5E"/>
                </a:solidFill>
                <a:latin typeface="Arial MT"/>
                <a:cs typeface="Arial MT"/>
              </a:rPr>
              <a:t>using</a:t>
            </a:r>
            <a:r>
              <a:rPr dirty="0" sz="2100" spc="275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0E2F5E"/>
                </a:solidFill>
                <a:latin typeface="Arial MT"/>
                <a:cs typeface="Arial MT"/>
              </a:rPr>
              <a:t>Al</a:t>
            </a:r>
            <a:r>
              <a:rPr dirty="0" sz="2100" spc="204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0E2F5E"/>
                </a:solidFill>
                <a:latin typeface="Arial MT"/>
                <a:cs typeface="Arial MT"/>
              </a:rPr>
              <a:t>and</a:t>
            </a:r>
            <a:r>
              <a:rPr dirty="0" sz="2100" spc="225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0E2F5E"/>
                </a:solidFill>
                <a:latin typeface="Arial MT"/>
                <a:cs typeface="Arial MT"/>
              </a:rPr>
              <a:t>predictive</a:t>
            </a:r>
            <a:r>
              <a:rPr dirty="0" sz="2100" spc="315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0E2F5E"/>
                </a:solidFill>
                <a:latin typeface="Arial MT"/>
                <a:cs typeface="Arial MT"/>
              </a:rPr>
              <a:t>analytics</a:t>
            </a:r>
            <a:r>
              <a:rPr dirty="0" sz="2100" spc="285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100" spc="30">
                <a:solidFill>
                  <a:srgbClr val="0E2F5E"/>
                </a:solidFill>
                <a:latin typeface="Arial MT"/>
                <a:cs typeface="Arial MT"/>
              </a:rPr>
              <a:t>to </a:t>
            </a:r>
            <a:r>
              <a:rPr dirty="0" sz="2100" spc="-30">
                <a:solidFill>
                  <a:srgbClr val="0E2F5E"/>
                </a:solidFill>
                <a:latin typeface="Arial MT"/>
                <a:cs typeface="Arial MT"/>
              </a:rPr>
              <a:t>pre-</a:t>
            </a:r>
            <a:r>
              <a:rPr dirty="0" sz="2100">
                <a:solidFill>
                  <a:srgbClr val="0E2F5E"/>
                </a:solidFill>
                <a:latin typeface="Arial MT"/>
                <a:cs typeface="Arial MT"/>
              </a:rPr>
              <a:t>position</a:t>
            </a:r>
            <a:r>
              <a:rPr dirty="0" sz="2100" spc="210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0E2F5E"/>
                </a:solidFill>
                <a:latin typeface="Arial MT"/>
                <a:cs typeface="Arial MT"/>
              </a:rPr>
              <a:t>ambulances</a:t>
            </a:r>
            <a:r>
              <a:rPr dirty="0" sz="2100" spc="225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0E2F5E"/>
                </a:solidFill>
                <a:latin typeface="Arial MT"/>
                <a:cs typeface="Arial MT"/>
              </a:rPr>
              <a:t>based</a:t>
            </a:r>
            <a:r>
              <a:rPr dirty="0" sz="2100" spc="90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0E2F5E"/>
                </a:solidFill>
                <a:latin typeface="Arial MT"/>
                <a:cs typeface="Arial MT"/>
              </a:rPr>
              <a:t>on</a:t>
            </a:r>
            <a:r>
              <a:rPr dirty="0" sz="2100" spc="45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100" spc="-10">
                <a:solidFill>
                  <a:srgbClr val="0E2F5E"/>
                </a:solidFill>
                <a:latin typeface="Arial MT"/>
                <a:cs typeface="Arial MT"/>
              </a:rPr>
              <a:t>historical </a:t>
            </a:r>
            <a:r>
              <a:rPr dirty="0" sz="2100" spc="-25">
                <a:solidFill>
                  <a:srgbClr val="0E2F5E"/>
                </a:solidFill>
                <a:latin typeface="Arial MT"/>
                <a:cs typeface="Arial MT"/>
              </a:rPr>
              <a:t>emergency</a:t>
            </a:r>
            <a:r>
              <a:rPr dirty="0" sz="2100" spc="-60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100" spc="-10">
                <a:solidFill>
                  <a:srgbClr val="0E2F5E"/>
                </a:solidFill>
                <a:latin typeface="Arial MT"/>
                <a:cs typeface="Arial MT"/>
              </a:rPr>
              <a:t>patterns.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03701" y="8220921"/>
            <a:ext cx="5304155" cy="1644650"/>
          </a:xfrm>
          <a:prstGeom prst="rect">
            <a:avLst/>
          </a:prstGeom>
        </p:spPr>
        <p:txBody>
          <a:bodyPr wrap="square" lIns="0" tIns="151765" rIns="0" bIns="0" rtlCol="0" vert="horz">
            <a:spAutoFit/>
          </a:bodyPr>
          <a:lstStyle/>
          <a:p>
            <a:pPr algn="just" marL="21590">
              <a:lnSpc>
                <a:spcPct val="100000"/>
              </a:lnSpc>
              <a:spcBef>
                <a:spcPts val="1195"/>
              </a:spcBef>
            </a:pPr>
            <a:r>
              <a:rPr dirty="0" sz="2450" spc="-10">
                <a:solidFill>
                  <a:srgbClr val="0E2F5E"/>
                </a:solidFill>
                <a:latin typeface="Arial MT"/>
                <a:cs typeface="Arial MT"/>
              </a:rPr>
              <a:t>Public-Private</a:t>
            </a:r>
            <a:r>
              <a:rPr dirty="0" sz="2450" spc="-195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0E2F5E"/>
                </a:solidFill>
                <a:latin typeface="Arial MT"/>
                <a:cs typeface="Arial MT"/>
              </a:rPr>
              <a:t>Partnerships:</a:t>
            </a:r>
            <a:endParaRPr sz="2450">
              <a:latin typeface="Arial MT"/>
              <a:cs typeface="Arial MT"/>
            </a:endParaRPr>
          </a:p>
          <a:p>
            <a:pPr algn="just" marL="12700" marR="5080" indent="3810">
              <a:lnSpc>
                <a:spcPct val="104299"/>
              </a:lnSpc>
              <a:spcBef>
                <a:spcPts val="825"/>
              </a:spcBef>
              <a:tabLst>
                <a:tab pos="3536315" algn="l"/>
              </a:tabLst>
            </a:pPr>
            <a:r>
              <a:rPr dirty="0" sz="2100">
                <a:solidFill>
                  <a:srgbClr val="0E2F5E"/>
                </a:solidFill>
                <a:latin typeface="Arial MT"/>
                <a:cs typeface="Arial MT"/>
              </a:rPr>
              <a:t>Collaboration</a:t>
            </a:r>
            <a:r>
              <a:rPr dirty="0" sz="2100" spc="30">
                <a:solidFill>
                  <a:srgbClr val="0E2F5E"/>
                </a:solidFill>
                <a:latin typeface="Arial MT"/>
                <a:cs typeface="Arial MT"/>
              </a:rPr>
              <a:t>  </a:t>
            </a:r>
            <a:r>
              <a:rPr dirty="0" sz="2100">
                <a:solidFill>
                  <a:srgbClr val="0E2F5E"/>
                </a:solidFill>
                <a:latin typeface="Arial MT"/>
                <a:cs typeface="Arial MT"/>
              </a:rPr>
              <a:t>with</a:t>
            </a:r>
            <a:r>
              <a:rPr dirty="0" sz="2100" spc="450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0E2F5E"/>
                </a:solidFill>
                <a:latin typeface="Arial MT"/>
                <a:cs typeface="Arial MT"/>
              </a:rPr>
              <a:t>government</a:t>
            </a:r>
            <a:r>
              <a:rPr dirty="0" sz="2100" spc="25">
                <a:solidFill>
                  <a:srgbClr val="0E2F5E"/>
                </a:solidFill>
                <a:latin typeface="Arial MT"/>
                <a:cs typeface="Arial MT"/>
              </a:rPr>
              <a:t>  </a:t>
            </a:r>
            <a:r>
              <a:rPr dirty="0" sz="2100">
                <a:solidFill>
                  <a:srgbClr val="0E2F5E"/>
                </a:solidFill>
                <a:latin typeface="Arial MT"/>
                <a:cs typeface="Arial MT"/>
              </a:rPr>
              <a:t>bodies</a:t>
            </a:r>
            <a:r>
              <a:rPr dirty="0" sz="2100" spc="-30">
                <a:solidFill>
                  <a:srgbClr val="0E2F5E"/>
                </a:solidFill>
                <a:latin typeface="Arial MT"/>
                <a:cs typeface="Arial MT"/>
              </a:rPr>
              <a:t>  </a:t>
            </a:r>
            <a:r>
              <a:rPr dirty="0" sz="2100" spc="-25">
                <a:solidFill>
                  <a:srgbClr val="0E2F5E"/>
                </a:solidFill>
                <a:latin typeface="Arial MT"/>
                <a:cs typeface="Arial MT"/>
              </a:rPr>
              <a:t>and </a:t>
            </a:r>
            <a:r>
              <a:rPr dirty="0" sz="2100">
                <a:solidFill>
                  <a:srgbClr val="0E2F5E"/>
                </a:solidFill>
                <a:latin typeface="Arial MT"/>
                <a:cs typeface="Arial MT"/>
              </a:rPr>
              <a:t>private</a:t>
            </a:r>
            <a:r>
              <a:rPr dirty="0" sz="2100" spc="310">
                <a:solidFill>
                  <a:srgbClr val="0E2F5E"/>
                </a:solidFill>
                <a:latin typeface="Arial MT"/>
                <a:cs typeface="Arial MT"/>
              </a:rPr>
              <a:t>    </a:t>
            </a:r>
            <a:r>
              <a:rPr dirty="0" sz="2100" spc="-10">
                <a:solidFill>
                  <a:srgbClr val="0E2F5E"/>
                </a:solidFill>
                <a:latin typeface="Arial MT"/>
                <a:cs typeface="Arial MT"/>
              </a:rPr>
              <a:t>hospitals</a:t>
            </a:r>
            <a:r>
              <a:rPr dirty="0" sz="2100">
                <a:solidFill>
                  <a:srgbClr val="0E2F5E"/>
                </a:solidFill>
                <a:latin typeface="Arial MT"/>
                <a:cs typeface="Arial MT"/>
              </a:rPr>
              <a:t>	shared</a:t>
            </a:r>
            <a:r>
              <a:rPr dirty="0" sz="2100" spc="254">
                <a:solidFill>
                  <a:srgbClr val="0E2F5E"/>
                </a:solidFill>
                <a:latin typeface="Arial MT"/>
                <a:cs typeface="Arial MT"/>
              </a:rPr>
              <a:t>    </a:t>
            </a:r>
            <a:r>
              <a:rPr dirty="0" sz="2100" spc="-195">
                <a:solidFill>
                  <a:srgbClr val="0E2F5E"/>
                </a:solidFill>
                <a:latin typeface="Arial MT"/>
                <a:cs typeface="Arial MT"/>
              </a:rPr>
              <a:t>EMS </a:t>
            </a:r>
            <a:r>
              <a:rPr dirty="0" sz="2100" spc="-10">
                <a:solidFill>
                  <a:srgbClr val="0E2F5E"/>
                </a:solidFill>
                <a:latin typeface="Arial MT"/>
                <a:cs typeface="Arial MT"/>
              </a:rPr>
              <a:t>infrastructure.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8899200" y="4345178"/>
            <a:ext cx="803275" cy="4140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50" spc="85">
                <a:solidFill>
                  <a:srgbClr val="011828"/>
                </a:solidFill>
                <a:latin typeface="Arial MT"/>
                <a:cs typeface="Arial MT"/>
              </a:rPr>
              <a:t>2030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7947661" y="6295135"/>
            <a:ext cx="79565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20">
                <a:solidFill>
                  <a:srgbClr val="011828"/>
                </a:solidFill>
                <a:latin typeface="Arial MT"/>
                <a:cs typeface="Arial MT"/>
              </a:rPr>
              <a:t>2028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1457607" y="4394453"/>
            <a:ext cx="6147435" cy="398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50" spc="-85">
                <a:latin typeface="Arial MT"/>
                <a:cs typeface="Arial MT"/>
              </a:rPr>
              <a:t>Near-</a:t>
            </a:r>
            <a:r>
              <a:rPr dirty="0" sz="2450" spc="-40">
                <a:latin typeface="Arial MT"/>
                <a:cs typeface="Arial MT"/>
              </a:rPr>
              <a:t>instant</a:t>
            </a:r>
            <a:r>
              <a:rPr dirty="0" sz="2450" spc="30">
                <a:latin typeface="Arial MT"/>
                <a:cs typeface="Arial MT"/>
              </a:rPr>
              <a:t> </a:t>
            </a:r>
            <a:r>
              <a:rPr dirty="0" sz="2450" spc="-10">
                <a:latin typeface="Arial MT"/>
                <a:cs typeface="Arial MT"/>
              </a:rPr>
              <a:t>dispatch</a:t>
            </a:r>
            <a:r>
              <a:rPr dirty="0" sz="2450" spc="-130">
                <a:latin typeface="Arial MT"/>
                <a:cs typeface="Arial MT"/>
              </a:rPr>
              <a:t> </a:t>
            </a:r>
            <a:r>
              <a:rPr dirty="0" sz="2450">
                <a:latin typeface="Arial MT"/>
                <a:cs typeface="Arial MT"/>
              </a:rPr>
              <a:t>with</a:t>
            </a:r>
            <a:r>
              <a:rPr dirty="0" sz="2450" spc="-275">
                <a:latin typeface="Arial MT"/>
                <a:cs typeface="Arial MT"/>
              </a:rPr>
              <a:t> </a:t>
            </a:r>
            <a:r>
              <a:rPr dirty="0" sz="2450" spc="-10">
                <a:latin typeface="Arial MT"/>
                <a:cs typeface="Arial MT"/>
              </a:rPr>
              <a:t>predictive</a:t>
            </a:r>
            <a:r>
              <a:rPr dirty="0" sz="2450" spc="-100">
                <a:latin typeface="Arial MT"/>
                <a:cs typeface="Arial MT"/>
              </a:rPr>
              <a:t> </a:t>
            </a:r>
            <a:r>
              <a:rPr dirty="0" sz="2450" spc="-10">
                <a:latin typeface="Arial MT"/>
                <a:cs typeface="Arial MT"/>
              </a:rPr>
              <a:t>analytics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8503338" y="5311902"/>
            <a:ext cx="793750" cy="398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50" spc="120">
                <a:solidFill>
                  <a:srgbClr val="011828"/>
                </a:solidFill>
                <a:latin typeface="Arial MT"/>
                <a:cs typeface="Arial MT"/>
              </a:rPr>
              <a:t>2029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1966397" y="5317997"/>
            <a:ext cx="5517515" cy="398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50" spc="-50">
                <a:latin typeface="Arial MT"/>
                <a:cs typeface="Arial MT"/>
              </a:rPr>
              <a:t>Autonomous</a:t>
            </a:r>
            <a:r>
              <a:rPr dirty="0" sz="2450" spc="-35">
                <a:latin typeface="Arial MT"/>
                <a:cs typeface="Arial MT"/>
              </a:rPr>
              <a:t> </a:t>
            </a:r>
            <a:r>
              <a:rPr dirty="0" sz="2450" spc="-70">
                <a:latin typeface="Arial MT"/>
                <a:cs typeface="Arial MT"/>
              </a:rPr>
              <a:t>ambulance</a:t>
            </a:r>
            <a:r>
              <a:rPr dirty="0" sz="2450" spc="-20">
                <a:latin typeface="Arial MT"/>
                <a:cs typeface="Arial MT"/>
              </a:rPr>
              <a:t> </a:t>
            </a:r>
            <a:r>
              <a:rPr dirty="0" sz="2450" spc="-80">
                <a:latin typeface="Arial MT"/>
                <a:cs typeface="Arial MT"/>
              </a:rPr>
              <a:t>assistance</a:t>
            </a:r>
            <a:r>
              <a:rPr dirty="0" sz="2450" spc="-150">
                <a:latin typeface="Arial MT"/>
                <a:cs typeface="Arial MT"/>
              </a:rPr>
              <a:t> </a:t>
            </a:r>
            <a:r>
              <a:rPr dirty="0" sz="2450" spc="-10">
                <a:latin typeface="Arial MT"/>
                <a:cs typeface="Arial MT"/>
              </a:rPr>
              <a:t>starts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2185771" y="6293358"/>
            <a:ext cx="5608320" cy="398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50" spc="-60">
                <a:latin typeface="Arial MT"/>
                <a:cs typeface="Arial MT"/>
              </a:rPr>
              <a:t>Dedicated</a:t>
            </a:r>
            <a:r>
              <a:rPr dirty="0" sz="2450" spc="-100">
                <a:latin typeface="Arial MT"/>
                <a:cs typeface="Arial MT"/>
              </a:rPr>
              <a:t> </a:t>
            </a:r>
            <a:r>
              <a:rPr dirty="0" sz="2450" spc="-40">
                <a:latin typeface="Arial MT"/>
                <a:cs typeface="Arial MT"/>
              </a:rPr>
              <a:t>emergency</a:t>
            </a:r>
            <a:r>
              <a:rPr dirty="0" sz="2450" spc="-45">
                <a:latin typeface="Arial MT"/>
                <a:cs typeface="Arial MT"/>
              </a:rPr>
              <a:t> </a:t>
            </a:r>
            <a:r>
              <a:rPr dirty="0" sz="2450" spc="-80">
                <a:latin typeface="Arial MT"/>
                <a:cs typeface="Arial MT"/>
              </a:rPr>
              <a:t>lanes</a:t>
            </a:r>
            <a:r>
              <a:rPr dirty="0" sz="2450" spc="-190">
                <a:latin typeface="Arial MT"/>
                <a:cs typeface="Arial MT"/>
              </a:rPr>
              <a:t> </a:t>
            </a:r>
            <a:r>
              <a:rPr dirty="0" sz="2450">
                <a:latin typeface="Arial MT"/>
                <a:cs typeface="Arial MT"/>
              </a:rPr>
              <a:t>in</a:t>
            </a:r>
            <a:r>
              <a:rPr dirty="0" sz="2450" spc="-270">
                <a:latin typeface="Arial MT"/>
                <a:cs typeface="Arial MT"/>
              </a:rPr>
              <a:t> </a:t>
            </a:r>
            <a:r>
              <a:rPr dirty="0" sz="2450" spc="-55">
                <a:latin typeface="Arial MT"/>
                <a:cs typeface="Arial MT"/>
              </a:rPr>
              <a:t>major</a:t>
            </a:r>
            <a:r>
              <a:rPr dirty="0" sz="2450" spc="-140">
                <a:latin typeface="Arial MT"/>
                <a:cs typeface="Arial MT"/>
              </a:rPr>
              <a:t> </a:t>
            </a:r>
            <a:r>
              <a:rPr dirty="0" sz="2450" spc="-10">
                <a:latin typeface="Arial MT"/>
                <a:cs typeface="Arial MT"/>
              </a:rPr>
              <a:t>cities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2968503" y="7171182"/>
            <a:ext cx="4975860" cy="1715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87780" marR="699135" indent="-1275715">
              <a:lnSpc>
                <a:spcPts val="3070"/>
              </a:lnSpc>
              <a:spcBef>
                <a:spcPts val="90"/>
              </a:spcBef>
            </a:pPr>
            <a:r>
              <a:rPr dirty="0" sz="2450" spc="-85">
                <a:latin typeface="Arial MT"/>
                <a:cs typeface="Arial MT"/>
              </a:rPr>
              <a:t>Expanded</a:t>
            </a:r>
            <a:r>
              <a:rPr dirty="0" sz="2450" spc="-20">
                <a:latin typeface="Arial MT"/>
                <a:cs typeface="Arial MT"/>
              </a:rPr>
              <a:t> </a:t>
            </a:r>
            <a:r>
              <a:rPr dirty="0" sz="2450" spc="-25">
                <a:latin typeface="Arial MT"/>
                <a:cs typeface="Arial MT"/>
              </a:rPr>
              <a:t>fleet</a:t>
            </a:r>
            <a:r>
              <a:rPr dirty="0" sz="2450" spc="-145">
                <a:latin typeface="Arial MT"/>
                <a:cs typeface="Arial MT"/>
              </a:rPr>
              <a:t> </a:t>
            </a:r>
            <a:r>
              <a:rPr dirty="0" sz="2450" spc="-50">
                <a:latin typeface="Arial MT"/>
                <a:cs typeface="Arial MT"/>
              </a:rPr>
              <a:t>and</a:t>
            </a:r>
            <a:r>
              <a:rPr dirty="0" sz="2450" spc="-204">
                <a:latin typeface="Arial MT"/>
                <a:cs typeface="Arial MT"/>
              </a:rPr>
              <a:t> </a:t>
            </a:r>
            <a:r>
              <a:rPr dirty="0" sz="2450">
                <a:latin typeface="Arial MT"/>
                <a:cs typeface="Arial MT"/>
              </a:rPr>
              <a:t>better</a:t>
            </a:r>
            <a:r>
              <a:rPr dirty="0" sz="2450" spc="-130">
                <a:latin typeface="Arial MT"/>
                <a:cs typeface="Arial MT"/>
              </a:rPr>
              <a:t> </a:t>
            </a:r>
            <a:r>
              <a:rPr dirty="0" sz="2450" spc="-10">
                <a:latin typeface="Arial MT"/>
                <a:cs typeface="Arial MT"/>
              </a:rPr>
              <a:t>traffic management</a:t>
            </a:r>
            <a:endParaRPr sz="2450">
              <a:latin typeface="Arial MT"/>
              <a:cs typeface="Arial MT"/>
            </a:endParaRPr>
          </a:p>
          <a:p>
            <a:pPr marL="1734820" marR="5080" indent="-1569085">
              <a:lnSpc>
                <a:spcPct val="103699"/>
              </a:lnSpc>
              <a:spcBef>
                <a:spcPts val="1080"/>
              </a:spcBef>
            </a:pPr>
            <a:r>
              <a:rPr dirty="0" sz="2450" spc="-75">
                <a:latin typeface="Arial MT"/>
                <a:cs typeface="Arial MT"/>
              </a:rPr>
              <a:t>More</a:t>
            </a:r>
            <a:r>
              <a:rPr dirty="0" sz="2450" spc="-140">
                <a:latin typeface="Arial MT"/>
                <a:cs typeface="Arial MT"/>
              </a:rPr>
              <a:t> </a:t>
            </a:r>
            <a:r>
              <a:rPr dirty="0" sz="2450" spc="-254">
                <a:latin typeface="Arial MT"/>
                <a:cs typeface="Arial MT"/>
              </a:rPr>
              <a:t>EV</a:t>
            </a:r>
            <a:r>
              <a:rPr dirty="0" sz="2450" spc="-220">
                <a:latin typeface="Arial MT"/>
                <a:cs typeface="Arial MT"/>
              </a:rPr>
              <a:t> </a:t>
            </a:r>
            <a:r>
              <a:rPr dirty="0" sz="2450" spc="-60">
                <a:latin typeface="Arial MT"/>
                <a:cs typeface="Arial MT"/>
              </a:rPr>
              <a:t>ambulances, </a:t>
            </a:r>
            <a:r>
              <a:rPr dirty="0" sz="2450" spc="-55">
                <a:latin typeface="Arial MT"/>
                <a:cs typeface="Arial MT"/>
              </a:rPr>
              <a:t>faster</a:t>
            </a:r>
            <a:r>
              <a:rPr dirty="0" sz="2450" spc="-140">
                <a:latin typeface="Arial MT"/>
                <a:cs typeface="Arial MT"/>
              </a:rPr>
              <a:t> </a:t>
            </a:r>
            <a:r>
              <a:rPr dirty="0" sz="2450" spc="-10">
                <a:latin typeface="Arial MT"/>
                <a:cs typeface="Arial MT"/>
              </a:rPr>
              <a:t>hospital coordination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3670229" y="9338309"/>
            <a:ext cx="4451350" cy="398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50" spc="-95">
                <a:latin typeface="Arial MT"/>
                <a:cs typeface="Arial MT"/>
              </a:rPr>
              <a:t>AI</a:t>
            </a:r>
            <a:r>
              <a:rPr dirty="0" sz="2450" spc="-245">
                <a:latin typeface="Arial MT"/>
                <a:cs typeface="Arial MT"/>
              </a:rPr>
              <a:t> </a:t>
            </a:r>
            <a:r>
              <a:rPr dirty="0" sz="2450" spc="-150">
                <a:latin typeface="Arial MT"/>
                <a:cs typeface="Arial MT"/>
              </a:rPr>
              <a:t>Based</a:t>
            </a:r>
            <a:r>
              <a:rPr dirty="0" sz="2450" spc="-145">
                <a:latin typeface="Arial MT"/>
                <a:cs typeface="Arial MT"/>
              </a:rPr>
              <a:t> </a:t>
            </a:r>
            <a:r>
              <a:rPr dirty="0" sz="2450" spc="-10">
                <a:latin typeface="Arial MT"/>
                <a:cs typeface="Arial MT"/>
              </a:rPr>
              <a:t>dispatch</a:t>
            </a:r>
            <a:r>
              <a:rPr dirty="0" sz="2450" spc="-55">
                <a:latin typeface="Arial MT"/>
                <a:cs typeface="Arial MT"/>
              </a:rPr>
              <a:t> </a:t>
            </a:r>
            <a:r>
              <a:rPr dirty="0" sz="2450">
                <a:latin typeface="Arial MT"/>
                <a:cs typeface="Arial MT"/>
              </a:rPr>
              <a:t>fully</a:t>
            </a:r>
            <a:r>
              <a:rPr dirty="0" sz="2450" spc="-225">
                <a:latin typeface="Arial MT"/>
                <a:cs typeface="Arial MT"/>
              </a:rPr>
              <a:t> </a:t>
            </a:r>
            <a:r>
              <a:rPr dirty="0" sz="2450" spc="-10">
                <a:latin typeface="Arial MT"/>
                <a:cs typeface="Arial MT"/>
              </a:rPr>
              <a:t>integrated</a:t>
            </a:r>
            <a:endParaRPr sz="24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047"/>
            <a:ext cx="18288000" cy="10283952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2993135" y="9006840"/>
            <a:ext cx="624840" cy="384175"/>
            <a:chOff x="2993135" y="9006840"/>
            <a:chExt cx="624840" cy="384175"/>
          </a:xfrm>
        </p:grpSpPr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93135" y="9006840"/>
              <a:ext cx="192024" cy="149352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96183" y="9183624"/>
              <a:ext cx="621792" cy="207263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93135" y="9006840"/>
              <a:ext cx="192024" cy="149352"/>
            </a:xfrm>
            <a:prstGeom prst="rect">
              <a:avLst/>
            </a:prstGeom>
          </p:spPr>
        </p:pic>
      </p:grpSp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176016" y="9512807"/>
            <a:ext cx="438911" cy="210311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96183" y="9183623"/>
            <a:ext cx="621792" cy="207263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572000" y="7333488"/>
            <a:ext cx="39624" cy="268224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572000" y="9009888"/>
            <a:ext cx="39624" cy="115824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993135" y="9006840"/>
            <a:ext cx="1118615" cy="883919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243489" y="265938"/>
            <a:ext cx="10556240" cy="6273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950" b="1">
                <a:latin typeface="Arial"/>
                <a:cs typeface="Arial"/>
              </a:rPr>
              <a:t>S</a:t>
            </a:r>
            <a:r>
              <a:rPr dirty="0" sz="3950" b="1">
                <a:latin typeface="Arial"/>
                <a:cs typeface="Arial"/>
              </a:rPr>
              <a:t>TRENGTHEN</a:t>
            </a:r>
            <a:r>
              <a:rPr dirty="0" sz="3950" spc="30" b="1">
                <a:latin typeface="Arial"/>
                <a:cs typeface="Arial"/>
              </a:rPr>
              <a:t> </a:t>
            </a:r>
            <a:r>
              <a:rPr dirty="0" sz="3950" b="1">
                <a:latin typeface="Arial"/>
                <a:cs typeface="Arial"/>
              </a:rPr>
              <a:t>BRAND</a:t>
            </a:r>
            <a:r>
              <a:rPr dirty="0" sz="3950" spc="140" b="1">
                <a:latin typeface="Arial"/>
                <a:cs typeface="Arial"/>
              </a:rPr>
              <a:t> </a:t>
            </a:r>
            <a:r>
              <a:rPr dirty="0" sz="3950" spc="-60" b="1">
                <a:latin typeface="Arial"/>
                <a:cs typeface="Arial"/>
              </a:rPr>
              <a:t>RE</a:t>
            </a:r>
            <a:r>
              <a:rPr dirty="0" sz="3950" spc="-60" b="1">
                <a:latin typeface="Arial"/>
                <a:cs typeface="Arial"/>
              </a:rPr>
              <a:t>C</a:t>
            </a:r>
            <a:r>
              <a:rPr dirty="0" sz="3950" spc="-60" b="1">
                <a:latin typeface="Arial"/>
                <a:cs typeface="Arial"/>
              </a:rPr>
              <a:t>ALL</a:t>
            </a:r>
            <a:r>
              <a:rPr dirty="0" sz="3950" spc="-245" b="1">
                <a:latin typeface="Arial"/>
                <a:cs typeface="Arial"/>
              </a:rPr>
              <a:t> </a:t>
            </a:r>
            <a:r>
              <a:rPr dirty="0" sz="3950" b="1">
                <a:latin typeface="Arial"/>
                <a:cs typeface="Arial"/>
              </a:rPr>
              <a:t>AND</a:t>
            </a:r>
            <a:r>
              <a:rPr dirty="0" sz="3950" spc="-5" b="1">
                <a:latin typeface="Arial"/>
                <a:cs typeface="Arial"/>
              </a:rPr>
              <a:t> </a:t>
            </a:r>
            <a:r>
              <a:rPr dirty="0" sz="3950" spc="-45" b="1">
                <a:latin typeface="Arial"/>
                <a:cs typeface="Arial"/>
              </a:rPr>
              <a:t>TRUST</a:t>
            </a:r>
            <a:endParaRPr sz="395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462930" y="7185659"/>
            <a:ext cx="78867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>
                <a:latin typeface="Arial MT"/>
                <a:cs typeface="Arial MT"/>
              </a:rPr>
              <a:t>Topics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898497" y="9190735"/>
            <a:ext cx="67818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10">
                <a:latin typeface="Arial MT"/>
                <a:cs typeface="Arial MT"/>
              </a:rPr>
              <a:t>Tools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916976" y="6457441"/>
            <a:ext cx="734695" cy="322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50" spc="-10">
                <a:latin typeface="Arial MT"/>
                <a:cs typeface="Arial MT"/>
              </a:rPr>
              <a:t>Talker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2019973" y="7748767"/>
            <a:ext cx="727075" cy="735330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93345">
              <a:lnSpc>
                <a:spcPct val="100000"/>
              </a:lnSpc>
              <a:spcBef>
                <a:spcPts val="245"/>
              </a:spcBef>
            </a:pPr>
            <a:r>
              <a:rPr dirty="0" sz="2100">
                <a:latin typeface="Arial MT"/>
                <a:cs typeface="Arial MT"/>
              </a:rPr>
              <a:t>5</a:t>
            </a:r>
            <a:r>
              <a:rPr dirty="0" sz="2100" spc="-110">
                <a:latin typeface="Arial MT"/>
                <a:cs typeface="Arial MT"/>
              </a:rPr>
              <a:t> </a:t>
            </a:r>
            <a:r>
              <a:rPr dirty="0" sz="2100" spc="25">
                <a:latin typeface="Arial MT"/>
                <a:cs typeface="Arial MT"/>
              </a:rPr>
              <a:t>T's</a:t>
            </a:r>
            <a:endParaRPr sz="2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dirty="0" sz="2300" spc="-50">
                <a:latin typeface="Arial MT"/>
                <a:cs typeface="Arial MT"/>
              </a:rPr>
              <a:t>Mode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3215274" y="7173467"/>
            <a:ext cx="102870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>
                <a:latin typeface="Arial MT"/>
                <a:cs typeface="Arial MT"/>
              </a:rPr>
              <a:t>Tracking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8040982" y="2040890"/>
            <a:ext cx="1647189" cy="4140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50" spc="-105">
                <a:solidFill>
                  <a:srgbClr val="0049AC"/>
                </a:solidFill>
                <a:latin typeface="Arial MT"/>
                <a:cs typeface="Arial MT"/>
              </a:rPr>
              <a:t>FEATURES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7861723" y="2814319"/>
            <a:ext cx="234569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75">
                <a:latin typeface="Arial MT"/>
                <a:cs typeface="Arial MT"/>
              </a:rPr>
              <a:t>1.Years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4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Expertise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7902188" y="4045203"/>
            <a:ext cx="1494155" cy="10668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7620">
              <a:lnSpc>
                <a:spcPts val="2760"/>
              </a:lnSpc>
              <a:spcBef>
                <a:spcPts val="90"/>
              </a:spcBef>
            </a:pPr>
            <a:r>
              <a:rPr dirty="0" sz="2200" spc="-30">
                <a:latin typeface="Arial MT"/>
                <a:cs typeface="Arial MT"/>
              </a:rPr>
              <a:t>2.Integrated </a:t>
            </a:r>
            <a:r>
              <a:rPr dirty="0" sz="2200" spc="-10">
                <a:latin typeface="Arial MT"/>
                <a:cs typeface="Arial MT"/>
              </a:rPr>
              <a:t>Emergency</a:t>
            </a:r>
            <a:endParaRPr sz="2200">
              <a:latin typeface="Arial MT"/>
              <a:cs typeface="Arial MT"/>
            </a:endParaRPr>
          </a:p>
          <a:p>
            <a:pPr marL="13335">
              <a:lnSpc>
                <a:spcPct val="100000"/>
              </a:lnSpc>
              <a:spcBef>
                <a:spcPts val="105"/>
              </a:spcBef>
            </a:pPr>
            <a:r>
              <a:rPr dirty="0" sz="2150" spc="-10">
                <a:latin typeface="Arial MT"/>
                <a:cs typeface="Arial MT"/>
              </a:rPr>
              <a:t>Services</a:t>
            </a:r>
            <a:endParaRPr sz="2150">
              <a:latin typeface="Arial MT"/>
              <a:cs typeface="Arial MT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7900898" y="5418766"/>
            <a:ext cx="2277745" cy="721995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 sz="2100">
                <a:latin typeface="Arial MT"/>
                <a:cs typeface="Arial MT"/>
              </a:rPr>
              <a:t>3.</a:t>
            </a:r>
            <a:r>
              <a:rPr dirty="0" sz="2100" spc="-19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Various</a:t>
            </a:r>
            <a:r>
              <a:rPr dirty="0" sz="2100" spc="-6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Types</a:t>
            </a:r>
            <a:r>
              <a:rPr dirty="0" sz="2100" spc="-105">
                <a:latin typeface="Arial MT"/>
                <a:cs typeface="Arial MT"/>
              </a:rPr>
              <a:t> </a:t>
            </a:r>
            <a:r>
              <a:rPr dirty="0" sz="2100" spc="-25">
                <a:latin typeface="Arial MT"/>
                <a:cs typeface="Arial MT"/>
              </a:rPr>
              <a:t>of</a:t>
            </a:r>
            <a:endParaRPr sz="2100">
              <a:latin typeface="Arial MT"/>
              <a:cs typeface="Arial MT"/>
            </a:endParaRPr>
          </a:p>
          <a:p>
            <a:pPr marL="20955">
              <a:lnSpc>
                <a:spcPct val="100000"/>
              </a:lnSpc>
              <a:spcBef>
                <a:spcPts val="165"/>
              </a:spcBef>
            </a:pPr>
            <a:r>
              <a:rPr dirty="0" sz="2200" spc="-10">
                <a:latin typeface="Arial MT"/>
                <a:cs typeface="Arial MT"/>
              </a:rPr>
              <a:t>Ambulances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7909035" y="6832600"/>
            <a:ext cx="204914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130">
                <a:latin typeface="Arial MT"/>
                <a:cs typeface="Arial MT"/>
              </a:rPr>
              <a:t>4.customer</a:t>
            </a:r>
            <a:r>
              <a:rPr dirty="0" sz="1900" spc="105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Base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4500463" y="6724367"/>
            <a:ext cx="2923540" cy="919480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254"/>
              </a:spcBef>
              <a:tabLst>
                <a:tab pos="2595880" algn="l"/>
              </a:tabLst>
            </a:pPr>
            <a:r>
              <a:rPr dirty="0" baseline="-8771" sz="2850">
                <a:solidFill>
                  <a:srgbClr val="0E2F5E"/>
                </a:solidFill>
                <a:latin typeface="Arial MT"/>
                <a:cs typeface="Arial MT"/>
              </a:rPr>
              <a:t>!</a:t>
            </a:r>
            <a:r>
              <a:rPr dirty="0" baseline="-8771" sz="2850" spc="375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1900" spc="-70">
                <a:latin typeface="Arial MT"/>
                <a:cs typeface="Arial MT"/>
              </a:rPr>
              <a:t>1.UI/UX</a:t>
            </a:r>
            <a:r>
              <a:rPr dirty="0" sz="1900" spc="21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Improvement</a:t>
            </a:r>
            <a:r>
              <a:rPr dirty="0" sz="1900">
                <a:latin typeface="Arial MT"/>
                <a:cs typeface="Arial MT"/>
              </a:rPr>
              <a:t>	</a:t>
            </a:r>
            <a:r>
              <a:rPr dirty="0" sz="1900" spc="-25">
                <a:latin typeface="Arial MT"/>
                <a:cs typeface="Arial MT"/>
              </a:rPr>
              <a:t>for</a:t>
            </a:r>
            <a:endParaRPr sz="1900">
              <a:latin typeface="Arial MT"/>
              <a:cs typeface="Arial MT"/>
            </a:endParaRPr>
          </a:p>
          <a:p>
            <a:pPr marL="55880">
              <a:lnSpc>
                <a:spcPct val="100000"/>
              </a:lnSpc>
              <a:spcBef>
                <a:spcPts val="150"/>
              </a:spcBef>
              <a:tabLst>
                <a:tab pos="1010919" algn="l"/>
                <a:tab pos="1903730" algn="l"/>
                <a:tab pos="2488565" algn="l"/>
              </a:tabLst>
            </a:pPr>
            <a:r>
              <a:rPr dirty="0" sz="1800">
                <a:solidFill>
                  <a:srgbClr val="0E2F5E"/>
                </a:solidFill>
                <a:latin typeface="Arial MT"/>
                <a:cs typeface="Arial MT"/>
              </a:rPr>
              <a:t>i</a:t>
            </a:r>
            <a:r>
              <a:rPr dirty="0" sz="1800" spc="490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faster</a:t>
            </a:r>
            <a:r>
              <a:rPr dirty="0" sz="1800">
                <a:latin typeface="Arial MT"/>
                <a:cs typeface="Arial MT"/>
              </a:rPr>
              <a:t>	</a:t>
            </a:r>
            <a:r>
              <a:rPr dirty="0" sz="1800" spc="-10">
                <a:latin typeface="Arial MT"/>
                <a:cs typeface="Arial MT"/>
              </a:rPr>
              <a:t>access</a:t>
            </a:r>
            <a:r>
              <a:rPr dirty="0" sz="1800">
                <a:latin typeface="Arial MT"/>
                <a:cs typeface="Arial MT"/>
              </a:rPr>
              <a:t>	</a:t>
            </a:r>
            <a:r>
              <a:rPr dirty="0" sz="1800" spc="-25">
                <a:latin typeface="Arial MT"/>
                <a:cs typeface="Arial MT"/>
              </a:rPr>
              <a:t>and</a:t>
            </a:r>
            <a:r>
              <a:rPr dirty="0" sz="1800">
                <a:latin typeface="Arial MT"/>
                <a:cs typeface="Arial MT"/>
              </a:rPr>
              <a:t>	</a:t>
            </a:r>
            <a:r>
              <a:rPr dirty="0" sz="1800" spc="-20">
                <a:latin typeface="Arial MT"/>
                <a:cs typeface="Arial MT"/>
              </a:rPr>
              <a:t>real</a:t>
            </a:r>
            <a:endParaRPr sz="1800">
              <a:latin typeface="Arial MT"/>
              <a:cs typeface="Arial MT"/>
            </a:endParaRPr>
          </a:p>
          <a:p>
            <a:pPr marL="231775">
              <a:lnSpc>
                <a:spcPct val="100000"/>
              </a:lnSpc>
              <a:spcBef>
                <a:spcPts val="190"/>
              </a:spcBef>
            </a:pPr>
            <a:r>
              <a:rPr dirty="0" sz="1750" spc="60">
                <a:latin typeface="Arial MT"/>
                <a:cs typeface="Arial MT"/>
              </a:rPr>
              <a:t>time</a:t>
            </a:r>
            <a:r>
              <a:rPr dirty="0" sz="1750" spc="-140">
                <a:latin typeface="Arial MT"/>
                <a:cs typeface="Arial MT"/>
              </a:rPr>
              <a:t> GPS</a:t>
            </a:r>
            <a:r>
              <a:rPr dirty="0" sz="1750" spc="-105">
                <a:latin typeface="Arial MT"/>
                <a:cs typeface="Arial MT"/>
              </a:rPr>
              <a:t> </a:t>
            </a:r>
            <a:r>
              <a:rPr dirty="0" sz="1750" spc="40">
                <a:latin typeface="Arial MT"/>
                <a:cs typeface="Arial MT"/>
              </a:rPr>
              <a:t>tracking.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4514254" y="7845043"/>
            <a:ext cx="2910840" cy="90043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65"/>
              </a:spcBef>
              <a:tabLst>
                <a:tab pos="233679" algn="l"/>
              </a:tabLst>
            </a:pPr>
            <a:r>
              <a:rPr dirty="0" baseline="-9259" sz="2700" spc="-75">
                <a:solidFill>
                  <a:srgbClr val="0E2F5E"/>
                </a:solidFill>
                <a:latin typeface="Arial MT"/>
                <a:cs typeface="Arial MT"/>
              </a:rPr>
              <a:t>!</a:t>
            </a:r>
            <a:r>
              <a:rPr dirty="0" baseline="-9259" sz="2700">
                <a:solidFill>
                  <a:srgbClr val="0E2F5E"/>
                </a:solidFill>
                <a:latin typeface="Arial MT"/>
                <a:cs typeface="Arial MT"/>
              </a:rPr>
              <a:t>	</a:t>
            </a:r>
            <a:r>
              <a:rPr dirty="0" sz="1800">
                <a:latin typeface="Arial MT"/>
                <a:cs typeface="Arial MT"/>
              </a:rPr>
              <a:t>2.Al</a:t>
            </a:r>
            <a:r>
              <a:rPr dirty="0" sz="1800" spc="18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Powered</a:t>
            </a:r>
            <a:r>
              <a:rPr dirty="0" sz="1800" spc="21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Emergency</a:t>
            </a:r>
            <a:endParaRPr sz="180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170"/>
              </a:spcBef>
              <a:tabLst>
                <a:tab pos="228600" algn="l"/>
              </a:tabLst>
            </a:pPr>
            <a:r>
              <a:rPr dirty="0" baseline="-7716" sz="2700" spc="-75">
                <a:solidFill>
                  <a:srgbClr val="0E2F5E"/>
                </a:solidFill>
                <a:latin typeface="Arial MT"/>
                <a:cs typeface="Arial MT"/>
              </a:rPr>
              <a:t>!</a:t>
            </a:r>
            <a:r>
              <a:rPr dirty="0" baseline="-7716" sz="2700">
                <a:solidFill>
                  <a:srgbClr val="0E2F5E"/>
                </a:solidFill>
                <a:latin typeface="Arial MT"/>
                <a:cs typeface="Arial MT"/>
              </a:rPr>
              <a:t>	</a:t>
            </a:r>
            <a:r>
              <a:rPr dirty="0" sz="1800">
                <a:latin typeface="Arial MT"/>
                <a:cs typeface="Arial MT"/>
              </a:rPr>
              <a:t>Prediction</a:t>
            </a:r>
            <a:r>
              <a:rPr dirty="0" sz="1800" spc="39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,</a:t>
            </a:r>
            <a:r>
              <a:rPr dirty="0" sz="1800" spc="35">
                <a:latin typeface="Arial MT"/>
                <a:cs typeface="Arial MT"/>
              </a:rPr>
              <a:t>  </a:t>
            </a:r>
            <a:r>
              <a:rPr dirty="0" sz="1800" spc="-10">
                <a:latin typeface="Arial MT"/>
                <a:cs typeface="Arial MT"/>
              </a:rPr>
              <a:t>personalized</a:t>
            </a:r>
            <a:endParaRPr sz="180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70"/>
              </a:spcBef>
            </a:pPr>
            <a:r>
              <a:rPr dirty="0" baseline="-12345" sz="2700">
                <a:solidFill>
                  <a:srgbClr val="0E2F5E"/>
                </a:solidFill>
                <a:latin typeface="Arial MT"/>
                <a:cs typeface="Arial MT"/>
              </a:rPr>
              <a:t>!  </a:t>
            </a:r>
            <a:r>
              <a:rPr dirty="0" baseline="-4629" sz="2700" spc="-247">
                <a:latin typeface="Arial MT"/>
                <a:cs typeface="Arial MT"/>
              </a:rPr>
              <a:t>SOS</a:t>
            </a:r>
            <a:r>
              <a:rPr dirty="0" baseline="-4629" sz="2700" spc="-202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triggers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4543276" y="9325864"/>
            <a:ext cx="8191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50">
                <a:solidFill>
                  <a:srgbClr val="0E2F5E"/>
                </a:solidFill>
                <a:latin typeface="Arial MT"/>
                <a:cs typeface="Arial MT"/>
              </a:rPr>
              <a:t>i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4517876" y="8966200"/>
            <a:ext cx="286194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13157" sz="2850">
                <a:solidFill>
                  <a:srgbClr val="0E2F5E"/>
                </a:solidFill>
                <a:latin typeface="Arial MT"/>
                <a:cs typeface="Arial MT"/>
              </a:rPr>
              <a:t>i</a:t>
            </a:r>
            <a:r>
              <a:rPr dirty="0" baseline="-13157" sz="2850" spc="637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1800" spc="-20">
                <a:latin typeface="Arial MT"/>
                <a:cs typeface="Arial MT"/>
              </a:rPr>
              <a:t>3.Seamless</a:t>
            </a:r>
            <a:r>
              <a:rPr dirty="0" sz="1800" spc="2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payment</a:t>
            </a:r>
            <a:r>
              <a:rPr dirty="0" sz="1800" spc="275">
                <a:latin typeface="Arial MT"/>
                <a:cs typeface="Arial MT"/>
              </a:rPr>
              <a:t> </a:t>
            </a:r>
            <a:r>
              <a:rPr dirty="0" sz="1800" spc="-20">
                <a:latin typeface="Arial MT"/>
                <a:cs typeface="Arial MT"/>
              </a:rPr>
              <a:t>like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4517876" y="9258807"/>
            <a:ext cx="1093470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19005" sz="2850">
                <a:solidFill>
                  <a:srgbClr val="0E2F5E"/>
                </a:solidFill>
                <a:latin typeface="Arial MT"/>
                <a:cs typeface="Arial MT"/>
              </a:rPr>
              <a:t>i</a:t>
            </a:r>
            <a:r>
              <a:rPr dirty="0" baseline="19005" sz="2850" spc="622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multiple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6412654" y="9271507"/>
            <a:ext cx="9277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Arial MT"/>
                <a:cs typeface="Arial MT"/>
              </a:rPr>
              <a:t>payment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4517876" y="9554464"/>
            <a:ext cx="285305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17543" sz="2850">
                <a:solidFill>
                  <a:srgbClr val="0E2F5E"/>
                </a:solidFill>
                <a:latin typeface="Arial MT"/>
                <a:cs typeface="Arial MT"/>
              </a:rPr>
              <a:t>i</a:t>
            </a:r>
            <a:r>
              <a:rPr dirty="0" baseline="17543" sz="2850" spc="630">
                <a:solidFill>
                  <a:srgbClr val="0E2F5E"/>
                </a:solidFill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options</a:t>
            </a:r>
            <a:r>
              <a:rPr dirty="0" sz="1800" spc="35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</a:t>
            </a:r>
            <a:r>
              <a:rPr dirty="0" sz="1800" spc="425">
                <a:latin typeface="Arial MT"/>
                <a:cs typeface="Arial MT"/>
              </a:rPr>
              <a:t> </a:t>
            </a:r>
            <a:r>
              <a:rPr dirty="0" sz="1800" spc="-30">
                <a:latin typeface="Arial MT"/>
                <a:cs typeface="Arial MT"/>
              </a:rPr>
              <a:t>UPI</a:t>
            </a:r>
            <a:r>
              <a:rPr dirty="0" sz="1800" spc="1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,  </a:t>
            </a:r>
            <a:r>
              <a:rPr dirty="0" sz="1800" spc="-10">
                <a:latin typeface="Arial MT"/>
                <a:cs typeface="Arial MT"/>
              </a:rPr>
              <a:t>Wallets,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4538076" y="9630664"/>
            <a:ext cx="780415" cy="5219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780">
              <a:lnSpc>
                <a:spcPts val="2255"/>
              </a:lnSpc>
              <a:spcBef>
                <a:spcPts val="100"/>
              </a:spcBef>
            </a:pPr>
            <a:r>
              <a:rPr dirty="0" sz="1900" spc="-50">
                <a:solidFill>
                  <a:srgbClr val="0E2F5E"/>
                </a:solidFill>
                <a:latin typeface="Arial MT"/>
                <a:cs typeface="Arial MT"/>
              </a:rPr>
              <a:t>i</a:t>
            </a:r>
            <a:endParaRPr sz="1900">
              <a:latin typeface="Arial MT"/>
              <a:cs typeface="Arial MT"/>
            </a:endParaRPr>
          </a:p>
          <a:p>
            <a:pPr marL="12700">
              <a:lnSpc>
                <a:spcPts val="1655"/>
              </a:lnSpc>
              <a:tabLst>
                <a:tab pos="200660" algn="l"/>
              </a:tabLst>
            </a:pPr>
            <a:r>
              <a:rPr dirty="0" sz="850" spc="-50">
                <a:solidFill>
                  <a:srgbClr val="0E2F5E"/>
                </a:solidFill>
                <a:latin typeface="Arial MT"/>
                <a:cs typeface="Arial MT"/>
              </a:rPr>
              <a:t>!</a:t>
            </a:r>
            <a:r>
              <a:rPr dirty="0" sz="850">
                <a:solidFill>
                  <a:srgbClr val="0E2F5E"/>
                </a:solidFill>
                <a:latin typeface="Arial MT"/>
                <a:cs typeface="Arial MT"/>
              </a:rPr>
              <a:t>	</a:t>
            </a:r>
            <a:r>
              <a:rPr dirty="0" sz="1400" spc="165">
                <a:latin typeface="Arial MT"/>
                <a:cs typeface="Arial MT"/>
              </a:rPr>
              <a:t>BNPL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11788090" y="1966976"/>
            <a:ext cx="2245995" cy="18275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10">
                <a:solidFill>
                  <a:srgbClr val="0049AC"/>
                </a:solidFill>
                <a:latin typeface="Arial MT"/>
                <a:cs typeface="Arial MT"/>
              </a:rPr>
              <a:t>Medulance</a:t>
            </a:r>
            <a:endParaRPr sz="2700">
              <a:latin typeface="Arial MT"/>
              <a:cs typeface="Arial MT"/>
            </a:endParaRPr>
          </a:p>
          <a:p>
            <a:pPr algn="ctr" marL="315595" marR="5080" indent="-635">
              <a:lnSpc>
                <a:spcPct val="107500"/>
              </a:lnSpc>
              <a:spcBef>
                <a:spcPts val="1914"/>
              </a:spcBef>
            </a:pPr>
            <a:r>
              <a:rPr dirty="0" sz="1400">
                <a:latin typeface="Arial MT"/>
                <a:cs typeface="Arial MT"/>
              </a:rPr>
              <a:t>established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 spc="50">
                <a:latin typeface="Arial MT"/>
                <a:cs typeface="Arial MT"/>
              </a:rPr>
              <a:t>in</a:t>
            </a:r>
            <a:r>
              <a:rPr dirty="0" sz="1400" spc="-12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2017,</a:t>
            </a:r>
            <a:r>
              <a:rPr dirty="0" sz="1400" spc="-125">
                <a:latin typeface="Arial MT"/>
                <a:cs typeface="Arial MT"/>
              </a:rPr>
              <a:t> </a:t>
            </a:r>
            <a:r>
              <a:rPr dirty="0" sz="1400" spc="-25">
                <a:latin typeface="Arial MT"/>
                <a:cs typeface="Arial MT"/>
              </a:rPr>
              <a:t>has </a:t>
            </a:r>
            <a:r>
              <a:rPr dirty="0" sz="1400">
                <a:latin typeface="Arial MT"/>
                <a:cs typeface="Arial MT"/>
              </a:rPr>
              <a:t>been</a:t>
            </a:r>
            <a:r>
              <a:rPr dirty="0" sz="1400" spc="-114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providing </a:t>
            </a:r>
            <a:r>
              <a:rPr dirty="0" sz="1400">
                <a:latin typeface="Arial MT"/>
                <a:cs typeface="Arial MT"/>
              </a:rPr>
              <a:t>emergency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medical </a:t>
            </a:r>
            <a:r>
              <a:rPr dirty="0" sz="1400">
                <a:latin typeface="Arial MT"/>
                <a:cs typeface="Arial MT"/>
              </a:rPr>
              <a:t>services</a:t>
            </a:r>
            <a:r>
              <a:rPr dirty="0" sz="1400" spc="-85">
                <a:latin typeface="Arial MT"/>
                <a:cs typeface="Arial MT"/>
              </a:rPr>
              <a:t> </a:t>
            </a:r>
            <a:r>
              <a:rPr dirty="0" sz="1400" spc="-100">
                <a:latin typeface="Arial MT"/>
                <a:cs typeface="Arial MT"/>
              </a:rPr>
              <a:t>(EMS)</a:t>
            </a:r>
            <a:r>
              <a:rPr dirty="0" sz="1400" spc="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for</a:t>
            </a:r>
            <a:r>
              <a:rPr dirty="0" sz="1400" spc="-10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over</a:t>
            </a:r>
            <a:r>
              <a:rPr dirty="0" sz="1400" spc="-70">
                <a:latin typeface="Arial MT"/>
                <a:cs typeface="Arial MT"/>
              </a:rPr>
              <a:t> </a:t>
            </a:r>
            <a:r>
              <a:rPr dirty="0" sz="1400" spc="-50">
                <a:solidFill>
                  <a:srgbClr val="FF5656"/>
                </a:solidFill>
                <a:latin typeface="Arial MT"/>
                <a:cs typeface="Arial MT"/>
              </a:rPr>
              <a:t>8 </a:t>
            </a:r>
            <a:r>
              <a:rPr dirty="0" sz="1400" spc="-10">
                <a:solidFill>
                  <a:srgbClr val="FF5656"/>
                </a:solidFill>
                <a:latin typeface="Arial MT"/>
                <a:cs typeface="Arial MT"/>
              </a:rPr>
              <a:t>years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12001511" y="4125467"/>
            <a:ext cx="2051050" cy="9372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2700" marR="5080">
              <a:lnSpc>
                <a:spcPct val="106700"/>
              </a:lnSpc>
              <a:spcBef>
                <a:spcPts val="105"/>
              </a:spcBef>
            </a:pPr>
            <a:r>
              <a:rPr dirty="0" sz="1400">
                <a:latin typeface="Arial MT"/>
                <a:cs typeface="Arial MT"/>
              </a:rPr>
              <a:t>Medulance</a:t>
            </a:r>
            <a:r>
              <a:rPr dirty="0" sz="1400" spc="-6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offers</a:t>
            </a:r>
            <a:r>
              <a:rPr dirty="0" sz="1400" spc="-13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medical </a:t>
            </a:r>
            <a:r>
              <a:rPr dirty="0" sz="1400" spc="-25">
                <a:latin typeface="Arial MT"/>
                <a:cs typeface="Arial MT"/>
              </a:rPr>
              <a:t>care</a:t>
            </a:r>
            <a:r>
              <a:rPr dirty="0" sz="1400" spc="-6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services</a:t>
            </a:r>
            <a:r>
              <a:rPr dirty="0" sz="1400" spc="-95">
                <a:latin typeface="Arial MT"/>
                <a:cs typeface="Arial MT"/>
              </a:rPr>
              <a:t> </a:t>
            </a:r>
            <a:r>
              <a:rPr dirty="0" sz="1400" spc="-20">
                <a:latin typeface="Arial MT"/>
                <a:cs typeface="Arial MT"/>
              </a:rPr>
              <a:t>like </a:t>
            </a:r>
            <a:r>
              <a:rPr dirty="0" sz="1400" spc="-40">
                <a:solidFill>
                  <a:srgbClr val="FF5656"/>
                </a:solidFill>
                <a:latin typeface="Arial MT"/>
                <a:cs typeface="Arial MT"/>
              </a:rPr>
              <a:t>MeduErs,</a:t>
            </a:r>
            <a:r>
              <a:rPr dirty="0" sz="1400" spc="-20">
                <a:solidFill>
                  <a:srgbClr val="FF5656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FF5656"/>
                </a:solidFill>
                <a:latin typeface="Arial MT"/>
                <a:cs typeface="Arial MT"/>
              </a:rPr>
              <a:t>MeduClinic, </a:t>
            </a:r>
            <a:r>
              <a:rPr dirty="0" sz="1400">
                <a:solidFill>
                  <a:srgbClr val="FF5656"/>
                </a:solidFill>
                <a:latin typeface="Arial MT"/>
                <a:cs typeface="Arial MT"/>
              </a:rPr>
              <a:t>MeduAlert</a:t>
            </a:r>
            <a:r>
              <a:rPr dirty="0" sz="1400" spc="-40">
                <a:solidFill>
                  <a:srgbClr val="FF5656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FF5656"/>
                </a:solidFill>
                <a:latin typeface="Arial MT"/>
                <a:cs typeface="Arial MT"/>
              </a:rPr>
              <a:t>6</a:t>
            </a:r>
            <a:r>
              <a:rPr dirty="0" sz="1400" spc="-60">
                <a:solidFill>
                  <a:srgbClr val="FF5656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MeduFit.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12014377" y="5478779"/>
            <a:ext cx="2092325" cy="9372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2700" marR="5080" indent="-3175">
              <a:lnSpc>
                <a:spcPct val="106700"/>
              </a:lnSpc>
              <a:spcBef>
                <a:spcPts val="105"/>
              </a:spcBef>
            </a:pPr>
            <a:r>
              <a:rPr dirty="0" sz="1400" spc="-20">
                <a:latin typeface="Arial MT"/>
                <a:cs typeface="Arial MT"/>
              </a:rPr>
              <a:t>Offers</a:t>
            </a:r>
            <a:r>
              <a:rPr dirty="0" sz="1400" spc="-10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different</a:t>
            </a:r>
            <a:r>
              <a:rPr dirty="0" sz="1400" spc="50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ambulance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20">
                <a:latin typeface="Arial MT"/>
                <a:cs typeface="Arial MT"/>
              </a:rPr>
              <a:t>services</a:t>
            </a:r>
            <a:r>
              <a:rPr dirty="0" sz="1400" spc="-8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based </a:t>
            </a:r>
            <a:r>
              <a:rPr dirty="0" sz="1400">
                <a:latin typeface="Arial MT"/>
                <a:cs typeface="Arial MT"/>
              </a:rPr>
              <a:t>on</a:t>
            </a:r>
            <a:r>
              <a:rPr dirty="0" sz="1400" spc="-1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requirement</a:t>
            </a:r>
            <a:r>
              <a:rPr dirty="0" sz="1400" spc="8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like </a:t>
            </a:r>
            <a:r>
              <a:rPr dirty="0" sz="1400" spc="-20">
                <a:solidFill>
                  <a:srgbClr val="FF5656"/>
                </a:solidFill>
                <a:latin typeface="Arial MT"/>
                <a:cs typeface="Arial MT"/>
              </a:rPr>
              <a:t>ALS, </a:t>
            </a:r>
            <a:r>
              <a:rPr dirty="0" sz="1400" spc="-100">
                <a:solidFill>
                  <a:srgbClr val="FF5656"/>
                </a:solidFill>
                <a:latin typeface="Arial MT"/>
                <a:cs typeface="Arial MT"/>
              </a:rPr>
              <a:t>BLS,</a:t>
            </a:r>
            <a:r>
              <a:rPr dirty="0" sz="1400" spc="-95">
                <a:solidFill>
                  <a:srgbClr val="FF5656"/>
                </a:solidFill>
                <a:latin typeface="Arial MT"/>
                <a:cs typeface="Arial MT"/>
              </a:rPr>
              <a:t> </a:t>
            </a:r>
            <a:r>
              <a:rPr dirty="0" sz="1400" spc="-130">
                <a:solidFill>
                  <a:srgbClr val="FF5656"/>
                </a:solidFill>
                <a:latin typeface="Arial MT"/>
                <a:cs typeface="Arial MT"/>
              </a:rPr>
              <a:t>PTA</a:t>
            </a:r>
            <a:r>
              <a:rPr dirty="0" sz="1400" spc="-40">
                <a:solidFill>
                  <a:srgbClr val="FF5656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FF5656"/>
                </a:solidFill>
                <a:latin typeface="Arial MT"/>
                <a:cs typeface="Arial MT"/>
              </a:rPr>
              <a:t>6</a:t>
            </a:r>
            <a:r>
              <a:rPr dirty="0" sz="1400" spc="55">
                <a:solidFill>
                  <a:srgbClr val="FF5656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FF5656"/>
                </a:solidFill>
                <a:latin typeface="Arial MT"/>
                <a:cs typeface="Arial MT"/>
              </a:rPr>
              <a:t>Mortuary</a:t>
            </a:r>
            <a:r>
              <a:rPr dirty="0" sz="1400" spc="-50">
                <a:solidFill>
                  <a:srgbClr val="FF5656"/>
                </a:solidFill>
                <a:latin typeface="Arial MT"/>
                <a:cs typeface="Arial MT"/>
              </a:rPr>
              <a:t> </a:t>
            </a:r>
            <a:r>
              <a:rPr dirty="0" sz="1400" spc="-20">
                <a:latin typeface="Arial MT"/>
                <a:cs typeface="Arial MT"/>
              </a:rPr>
              <a:t>van.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12127745" y="6813804"/>
            <a:ext cx="1901825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065" marR="5080">
              <a:lnSpc>
                <a:spcPct val="107100"/>
              </a:lnSpc>
              <a:spcBef>
                <a:spcPts val="100"/>
              </a:spcBef>
            </a:pPr>
            <a:r>
              <a:rPr dirty="0" sz="1400" spc="-30">
                <a:latin typeface="Arial MT"/>
                <a:cs typeface="Arial MT"/>
              </a:rPr>
              <a:t>Assisted</a:t>
            </a:r>
            <a:r>
              <a:rPr dirty="0" sz="1400" spc="-9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over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 spc="-40">
                <a:solidFill>
                  <a:srgbClr val="FF5656"/>
                </a:solidFill>
                <a:latin typeface="Arial MT"/>
                <a:cs typeface="Arial MT"/>
              </a:rPr>
              <a:t>1.5</a:t>
            </a:r>
            <a:r>
              <a:rPr dirty="0" sz="1400" spc="-80">
                <a:solidFill>
                  <a:srgbClr val="FF5656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FF5656"/>
                </a:solidFill>
                <a:latin typeface="Arial MT"/>
                <a:cs typeface="Arial MT"/>
              </a:rPr>
              <a:t>million </a:t>
            </a:r>
            <a:r>
              <a:rPr dirty="0" sz="1400">
                <a:latin typeface="Arial MT"/>
                <a:cs typeface="Arial MT"/>
              </a:rPr>
              <a:t>patients,</a:t>
            </a:r>
            <a:r>
              <a:rPr dirty="0" sz="1400" spc="-8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establishing</a:t>
            </a:r>
            <a:r>
              <a:rPr dirty="0" sz="1400" spc="10">
                <a:latin typeface="Arial MT"/>
                <a:cs typeface="Arial MT"/>
              </a:rPr>
              <a:t> </a:t>
            </a:r>
            <a:r>
              <a:rPr dirty="0" sz="1400" spc="-50">
                <a:latin typeface="Arial MT"/>
                <a:cs typeface="Arial MT"/>
              </a:rPr>
              <a:t>a </a:t>
            </a:r>
            <a:r>
              <a:rPr dirty="0" sz="1400">
                <a:solidFill>
                  <a:srgbClr val="FF5656"/>
                </a:solidFill>
                <a:latin typeface="Arial MT"/>
                <a:cs typeface="Arial MT"/>
              </a:rPr>
              <a:t>strong</a:t>
            </a:r>
            <a:r>
              <a:rPr dirty="0" sz="1400" spc="30">
                <a:solidFill>
                  <a:srgbClr val="FF5656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FF5656"/>
                </a:solidFill>
                <a:latin typeface="Arial MT"/>
                <a:cs typeface="Arial MT"/>
              </a:rPr>
              <a:t>reputation</a:t>
            </a:r>
            <a:r>
              <a:rPr dirty="0" sz="1400" spc="35">
                <a:solidFill>
                  <a:srgbClr val="FF5656"/>
                </a:solidFill>
                <a:latin typeface="Arial MT"/>
                <a:cs typeface="Arial MT"/>
              </a:rPr>
              <a:t> </a:t>
            </a:r>
            <a:r>
              <a:rPr dirty="0" sz="1400" spc="-25">
                <a:latin typeface="Arial MT"/>
                <a:cs typeface="Arial MT"/>
              </a:rPr>
              <a:t>in </a:t>
            </a:r>
            <a:r>
              <a:rPr dirty="0" sz="1400">
                <a:latin typeface="Arial MT"/>
                <a:cs typeface="Arial MT"/>
              </a:rPr>
              <a:t>emergency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care.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15773361" y="1988566"/>
            <a:ext cx="2085975" cy="15862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17525">
              <a:lnSpc>
                <a:spcPct val="100000"/>
              </a:lnSpc>
              <a:spcBef>
                <a:spcPts val="100"/>
              </a:spcBef>
            </a:pPr>
            <a:r>
              <a:rPr dirty="0" sz="2650" spc="65">
                <a:solidFill>
                  <a:srgbClr val="0049AC"/>
                </a:solidFill>
                <a:latin typeface="Arial MT"/>
                <a:cs typeface="Arial MT"/>
              </a:rPr>
              <a:t>Blinkit</a:t>
            </a:r>
            <a:endParaRPr sz="2650">
              <a:latin typeface="Arial MT"/>
              <a:cs typeface="Arial MT"/>
            </a:endParaRPr>
          </a:p>
          <a:p>
            <a:pPr algn="ctr" marL="12700" marR="5080" indent="11430">
              <a:lnSpc>
                <a:spcPct val="106700"/>
              </a:lnSpc>
              <a:spcBef>
                <a:spcPts val="1939"/>
              </a:spcBef>
            </a:pPr>
            <a:r>
              <a:rPr dirty="0" sz="1400">
                <a:latin typeface="Arial MT"/>
                <a:cs typeface="Arial MT"/>
              </a:rPr>
              <a:t>Blinkit</a:t>
            </a:r>
            <a:r>
              <a:rPr dirty="0" sz="1400" spc="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launched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its</a:t>
            </a:r>
            <a:r>
              <a:rPr dirty="0" sz="1400" spc="-85">
                <a:latin typeface="Arial MT"/>
                <a:cs typeface="Arial MT"/>
              </a:rPr>
              <a:t> </a:t>
            </a:r>
            <a:r>
              <a:rPr dirty="0" sz="1400" spc="-25">
                <a:latin typeface="Arial MT"/>
                <a:cs typeface="Arial MT"/>
              </a:rPr>
              <a:t>10- </a:t>
            </a:r>
            <a:r>
              <a:rPr dirty="0" sz="1400">
                <a:latin typeface="Arial MT"/>
                <a:cs typeface="Arial MT"/>
              </a:rPr>
              <a:t>minute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ambulance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service </a:t>
            </a:r>
            <a:r>
              <a:rPr dirty="0" sz="1400" spc="50">
                <a:latin typeface="Arial MT"/>
                <a:cs typeface="Arial MT"/>
              </a:rPr>
              <a:t>in</a:t>
            </a:r>
            <a:r>
              <a:rPr dirty="0" sz="1400" spc="-15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Gurugram</a:t>
            </a:r>
            <a:r>
              <a:rPr dirty="0" sz="1400" spc="-85">
                <a:latin typeface="Arial MT"/>
                <a:cs typeface="Arial MT"/>
              </a:rPr>
              <a:t> </a:t>
            </a:r>
            <a:r>
              <a:rPr dirty="0" sz="1400" spc="50">
                <a:latin typeface="Arial MT"/>
                <a:cs typeface="Arial MT"/>
              </a:rPr>
              <a:t>in</a:t>
            </a:r>
            <a:r>
              <a:rPr dirty="0" sz="1400" spc="-114"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FF5656"/>
                </a:solidFill>
                <a:latin typeface="Arial MT"/>
                <a:cs typeface="Arial MT"/>
              </a:rPr>
              <a:t>January </a:t>
            </a:r>
            <a:r>
              <a:rPr dirty="0" sz="1400" spc="-20">
                <a:solidFill>
                  <a:srgbClr val="FF5656"/>
                </a:solidFill>
                <a:latin typeface="Arial MT"/>
                <a:cs typeface="Arial MT"/>
              </a:rPr>
              <a:t>2025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15875178" y="4113275"/>
            <a:ext cx="1916430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8430" marR="5080" indent="-126364">
              <a:lnSpc>
                <a:spcPct val="107100"/>
              </a:lnSpc>
              <a:spcBef>
                <a:spcPts val="100"/>
              </a:spcBef>
            </a:pPr>
            <a:r>
              <a:rPr dirty="0" sz="1400">
                <a:latin typeface="Arial MT"/>
                <a:cs typeface="Arial MT"/>
              </a:rPr>
              <a:t>It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does</a:t>
            </a:r>
            <a:r>
              <a:rPr dirty="0" sz="1400" spc="-7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not</a:t>
            </a:r>
            <a:r>
              <a:rPr dirty="0" sz="1400" spc="-9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offer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services </a:t>
            </a:r>
            <a:r>
              <a:rPr dirty="0" sz="1400">
                <a:latin typeface="Arial MT"/>
                <a:cs typeface="Arial MT"/>
              </a:rPr>
              <a:t>similar</a:t>
            </a:r>
            <a:r>
              <a:rPr dirty="0" sz="1400" spc="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to</a:t>
            </a:r>
            <a:r>
              <a:rPr dirty="0" sz="1400" spc="-10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Medulance </a:t>
            </a:r>
            <a:r>
              <a:rPr dirty="0" sz="1400">
                <a:latin typeface="Arial MT"/>
                <a:cs typeface="Arial MT"/>
              </a:rPr>
              <a:t>except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for</a:t>
            </a:r>
            <a:r>
              <a:rPr dirty="0" sz="1400" spc="-8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rapid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 spc="-20">
                <a:latin typeface="Arial MT"/>
                <a:cs typeface="Arial MT"/>
              </a:rPr>
              <a:t>EMS.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15876815" y="5301995"/>
            <a:ext cx="2024380" cy="1168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07100"/>
              </a:lnSpc>
              <a:spcBef>
                <a:spcPts val="100"/>
              </a:spcBef>
            </a:pPr>
            <a:r>
              <a:rPr dirty="0" sz="1400">
                <a:latin typeface="Arial MT"/>
                <a:cs typeface="Arial MT"/>
              </a:rPr>
              <a:t>Currently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offers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 spc="-60">
                <a:solidFill>
                  <a:srgbClr val="FF5656"/>
                </a:solidFill>
                <a:latin typeface="Arial MT"/>
                <a:cs typeface="Arial MT"/>
              </a:rPr>
              <a:t>Basic</a:t>
            </a:r>
            <a:r>
              <a:rPr dirty="0" sz="1400" spc="40">
                <a:solidFill>
                  <a:srgbClr val="FF5656"/>
                </a:solidFill>
                <a:latin typeface="Arial MT"/>
                <a:cs typeface="Arial MT"/>
              </a:rPr>
              <a:t> </a:t>
            </a:r>
            <a:r>
              <a:rPr dirty="0" sz="1400" spc="-20">
                <a:solidFill>
                  <a:srgbClr val="FF5656"/>
                </a:solidFill>
                <a:latin typeface="Arial MT"/>
                <a:cs typeface="Arial MT"/>
              </a:rPr>
              <a:t>Life </a:t>
            </a:r>
            <a:r>
              <a:rPr dirty="0" sz="1400">
                <a:solidFill>
                  <a:srgbClr val="FF5656"/>
                </a:solidFill>
                <a:latin typeface="Arial MT"/>
                <a:cs typeface="Arial MT"/>
              </a:rPr>
              <a:t>Support</a:t>
            </a:r>
            <a:r>
              <a:rPr dirty="0" sz="1400" spc="-10">
                <a:solidFill>
                  <a:srgbClr val="FF5656"/>
                </a:solidFill>
                <a:latin typeface="Arial MT"/>
                <a:cs typeface="Arial MT"/>
              </a:rPr>
              <a:t> (BLS) </a:t>
            </a:r>
            <a:r>
              <a:rPr dirty="0" sz="1400" spc="-20">
                <a:latin typeface="Arial MT"/>
                <a:cs typeface="Arial MT"/>
              </a:rPr>
              <a:t>ambulances,</a:t>
            </a:r>
            <a:r>
              <a:rPr dirty="0" sz="1400" spc="1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equipped </a:t>
            </a:r>
            <a:r>
              <a:rPr dirty="0" sz="1400">
                <a:latin typeface="Arial MT"/>
                <a:cs typeface="Arial MT"/>
              </a:rPr>
              <a:t>with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essential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life-saving equipment.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15784233" y="6813804"/>
            <a:ext cx="2110105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065" marR="5080" indent="-12065">
              <a:lnSpc>
                <a:spcPct val="107100"/>
              </a:lnSpc>
              <a:spcBef>
                <a:spcPts val="100"/>
              </a:spcBef>
            </a:pPr>
            <a:r>
              <a:rPr dirty="0" sz="1400" spc="-25">
                <a:latin typeface="Arial MT"/>
                <a:cs typeface="Arial MT"/>
              </a:rPr>
              <a:t>Leverages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existing </a:t>
            </a:r>
            <a:r>
              <a:rPr dirty="0" sz="1400">
                <a:latin typeface="Arial MT"/>
                <a:cs typeface="Arial MT"/>
              </a:rPr>
              <a:t>customer </a:t>
            </a:r>
            <a:r>
              <a:rPr dirty="0" sz="1400" spc="-40">
                <a:solidFill>
                  <a:srgbClr val="FF5656"/>
                </a:solidFill>
                <a:latin typeface="Arial MT"/>
                <a:cs typeface="Arial MT"/>
              </a:rPr>
              <a:t>base </a:t>
            </a:r>
            <a:r>
              <a:rPr dirty="0" sz="1400">
                <a:solidFill>
                  <a:srgbClr val="FF5656"/>
                </a:solidFill>
                <a:latin typeface="Arial MT"/>
                <a:cs typeface="Arial MT"/>
              </a:rPr>
              <a:t>from</a:t>
            </a:r>
            <a:r>
              <a:rPr dirty="0" sz="1400" spc="-95">
                <a:solidFill>
                  <a:srgbClr val="FF5656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FF5656"/>
                </a:solidFill>
                <a:latin typeface="Arial MT"/>
                <a:cs typeface="Arial MT"/>
              </a:rPr>
              <a:t>quick- </a:t>
            </a:r>
            <a:r>
              <a:rPr dirty="0" sz="1400">
                <a:solidFill>
                  <a:srgbClr val="FF5656"/>
                </a:solidFill>
                <a:latin typeface="Arial MT"/>
                <a:cs typeface="Arial MT"/>
              </a:rPr>
              <a:t>commerce</a:t>
            </a:r>
            <a:r>
              <a:rPr dirty="0" sz="1400" spc="-40">
                <a:solidFill>
                  <a:srgbClr val="FF5656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operations,</a:t>
            </a:r>
            <a:r>
              <a:rPr dirty="0" sz="1400" spc="-6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still developing.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16528147" y="9124442"/>
            <a:ext cx="1320165" cy="779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950" spc="-120">
                <a:latin typeface="Arial MT"/>
                <a:cs typeface="Arial MT"/>
              </a:rPr>
              <a:t>Uber</a:t>
            </a:r>
            <a:endParaRPr sz="4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047"/>
            <a:ext cx="18288000" cy="1028395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4950"/>
              </a:lnSpc>
              <a:spcBef>
                <a:spcPts val="100"/>
              </a:spcBef>
            </a:pPr>
            <a:r>
              <a:rPr dirty="0" sz="4300" spc="-475"/>
              <a:t>FINANCIAL</a:t>
            </a:r>
            <a:r>
              <a:rPr dirty="0" sz="4300" spc="235"/>
              <a:t> </a:t>
            </a:r>
            <a:r>
              <a:rPr dirty="0" sz="4300" spc="-160"/>
              <a:t>S</a:t>
            </a:r>
            <a:r>
              <a:rPr dirty="0" sz="4300" spc="-160"/>
              <a:t>U</a:t>
            </a:r>
            <a:r>
              <a:rPr dirty="0" sz="4300" spc="-160"/>
              <a:t>S</a:t>
            </a:r>
            <a:r>
              <a:rPr dirty="0" sz="4300" spc="-175"/>
              <a:t>TAINABILIT</a:t>
            </a:r>
            <a:r>
              <a:rPr dirty="0" sz="4300" spc="-3475"/>
              <a:t>Y</a:t>
            </a:r>
            <a:r>
              <a:rPr dirty="0" sz="4300" spc="-175"/>
              <a:t>B</a:t>
            </a:r>
            <a:r>
              <a:rPr dirty="0" sz="4300" spc="-165"/>
              <a:t>Y</a:t>
            </a:r>
            <a:r>
              <a:rPr dirty="0" sz="4300" spc="-65"/>
              <a:t> </a:t>
            </a:r>
            <a:r>
              <a:rPr dirty="0" sz="4300" spc="-335"/>
              <a:t>O</a:t>
            </a:r>
            <a:r>
              <a:rPr dirty="0" baseline="1291" sz="6450" spc="-502"/>
              <a:t>PERATI</a:t>
            </a:r>
            <a:r>
              <a:rPr dirty="0" sz="4300" spc="-335"/>
              <a:t>O</a:t>
            </a:r>
            <a:r>
              <a:rPr dirty="0" baseline="1291" sz="6450" spc="-502"/>
              <a:t>NAL</a:t>
            </a:r>
            <a:endParaRPr baseline="1291" sz="6450"/>
          </a:p>
          <a:p>
            <a:pPr marL="17145">
              <a:lnSpc>
                <a:spcPts val="5310"/>
              </a:lnSpc>
            </a:pPr>
            <a:r>
              <a:rPr dirty="0" sz="4600" spc="-545"/>
              <a:t>O</a:t>
            </a:r>
            <a:r>
              <a:rPr dirty="0" sz="4600" spc="-545"/>
              <a:t>PTIMIZATI</a:t>
            </a:r>
            <a:r>
              <a:rPr dirty="0" sz="4600" spc="-545"/>
              <a:t>ON</a:t>
            </a:r>
            <a:endParaRPr sz="4600"/>
          </a:p>
        </p:txBody>
      </p:sp>
      <p:sp>
        <p:nvSpPr>
          <p:cNvPr id="4" name="object 4" descr=""/>
          <p:cNvSpPr txBox="1"/>
          <p:nvPr/>
        </p:nvSpPr>
        <p:spPr>
          <a:xfrm>
            <a:off x="301170" y="2509266"/>
            <a:ext cx="1664970" cy="3530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50" spc="-10">
                <a:latin typeface="Arial MT"/>
                <a:cs typeface="Arial MT"/>
              </a:rPr>
              <a:t>Subscriptions</a:t>
            </a:r>
            <a:endParaRPr sz="215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74450" y="3184398"/>
            <a:ext cx="1332865" cy="744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01625">
              <a:lnSpc>
                <a:spcPct val="109800"/>
              </a:lnSpc>
              <a:spcBef>
                <a:spcPts val="100"/>
              </a:spcBef>
            </a:pPr>
            <a:r>
              <a:rPr dirty="0" sz="2150" spc="-20">
                <a:latin typeface="Arial MT"/>
                <a:cs typeface="Arial MT"/>
              </a:rPr>
              <a:t>Home </a:t>
            </a:r>
            <a:r>
              <a:rPr dirty="0" sz="2150" spc="-25">
                <a:latin typeface="Arial MT"/>
                <a:cs typeface="Arial MT"/>
              </a:rPr>
              <a:t>Healthcare</a:t>
            </a:r>
            <a:endParaRPr sz="215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16569" y="4249673"/>
            <a:ext cx="1212215" cy="3530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50" spc="-10">
                <a:latin typeface="Arial MT"/>
                <a:cs typeface="Arial MT"/>
              </a:rPr>
              <a:t>Insurance</a:t>
            </a:r>
            <a:endParaRPr sz="215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06627" y="4900422"/>
            <a:ext cx="1851025" cy="7207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639445">
              <a:lnSpc>
                <a:spcPct val="106000"/>
              </a:lnSpc>
              <a:spcBef>
                <a:spcPts val="100"/>
              </a:spcBef>
            </a:pPr>
            <a:r>
              <a:rPr dirty="0" sz="2150" spc="-10">
                <a:latin typeface="Arial MT"/>
                <a:cs typeface="Arial MT"/>
              </a:rPr>
              <a:t>Total </a:t>
            </a:r>
            <a:r>
              <a:rPr dirty="0" sz="2150" spc="-45">
                <a:latin typeface="Arial MT"/>
                <a:cs typeface="Arial MT"/>
              </a:rPr>
              <a:t>Revenue(2025)</a:t>
            </a:r>
            <a:endParaRPr sz="215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289826" y="2433066"/>
            <a:ext cx="2339975" cy="2317115"/>
          </a:xfrm>
          <a:prstGeom prst="rect">
            <a:avLst/>
          </a:prstGeom>
        </p:spPr>
        <p:txBody>
          <a:bodyPr wrap="square" lIns="0" tIns="34925" rIns="0" bIns="0" rtlCol="0" vert="horz">
            <a:spAutoFit/>
          </a:bodyPr>
          <a:lstStyle/>
          <a:p>
            <a:pPr marL="200025" marR="473709" indent="-5080">
              <a:lnSpc>
                <a:spcPts val="2470"/>
              </a:lnSpc>
              <a:spcBef>
                <a:spcPts val="275"/>
              </a:spcBef>
            </a:pPr>
            <a:r>
              <a:rPr dirty="0" sz="1900" spc="-10">
                <a:latin typeface="Arial MT"/>
                <a:cs typeface="Arial MT"/>
              </a:rPr>
              <a:t>1</a:t>
            </a:r>
            <a:r>
              <a:rPr dirty="0" sz="2100" spc="-10">
                <a:latin typeface="Arial MT"/>
                <a:cs typeface="Arial MT"/>
              </a:rPr>
              <a:t>0</a:t>
            </a:r>
            <a:r>
              <a:rPr dirty="0" sz="2150" spc="-10">
                <a:latin typeface="Arial MT"/>
                <a:cs typeface="Arial MT"/>
              </a:rPr>
              <a:t>,</a:t>
            </a:r>
            <a:r>
              <a:rPr dirty="0" sz="2100" spc="-10">
                <a:latin typeface="Arial MT"/>
                <a:cs typeface="Arial MT"/>
              </a:rPr>
              <a:t>0</a:t>
            </a:r>
            <a:r>
              <a:rPr dirty="0" sz="2150" spc="-10">
                <a:latin typeface="Arial MT"/>
                <a:cs typeface="Arial MT"/>
              </a:rPr>
              <a:t>00</a:t>
            </a:r>
            <a:r>
              <a:rPr dirty="0" sz="2150" spc="-150">
                <a:latin typeface="Arial MT"/>
                <a:cs typeface="Arial MT"/>
              </a:rPr>
              <a:t> </a:t>
            </a:r>
            <a:r>
              <a:rPr dirty="0" sz="2150" spc="-75">
                <a:latin typeface="Arial MT"/>
                <a:cs typeface="Arial MT"/>
              </a:rPr>
              <a:t>users</a:t>
            </a:r>
            <a:r>
              <a:rPr dirty="0" sz="2150" spc="65">
                <a:latin typeface="Arial MT"/>
                <a:cs typeface="Arial MT"/>
              </a:rPr>
              <a:t> </a:t>
            </a:r>
            <a:r>
              <a:rPr dirty="0" sz="2150" spc="-50">
                <a:latin typeface="Arial MT"/>
                <a:cs typeface="Arial MT"/>
              </a:rPr>
              <a:t>• </a:t>
            </a:r>
            <a:r>
              <a:rPr dirty="0" sz="2150" spc="-150">
                <a:latin typeface="Arial MT"/>
                <a:cs typeface="Arial MT"/>
              </a:rPr>
              <a:t>T1,5OO/year</a:t>
            </a:r>
            <a:endParaRPr sz="2150">
              <a:latin typeface="Arial MT"/>
              <a:cs typeface="Arial MT"/>
            </a:endParaRPr>
          </a:p>
          <a:p>
            <a:pPr marL="69850" marR="20955" indent="-3175">
              <a:lnSpc>
                <a:spcPts val="2520"/>
              </a:lnSpc>
              <a:spcBef>
                <a:spcPts val="1495"/>
              </a:spcBef>
            </a:pPr>
            <a:r>
              <a:rPr dirty="0" sz="2150" spc="-305">
                <a:latin typeface="Arial MT"/>
                <a:cs typeface="Arial MT"/>
              </a:rPr>
              <a:t>s,oOO</a:t>
            </a:r>
            <a:r>
              <a:rPr dirty="0" sz="2150" spc="85">
                <a:latin typeface="Arial MT"/>
                <a:cs typeface="Arial MT"/>
              </a:rPr>
              <a:t> </a:t>
            </a:r>
            <a:r>
              <a:rPr dirty="0" sz="2150" spc="-65">
                <a:latin typeface="Arial MT"/>
                <a:cs typeface="Arial MT"/>
              </a:rPr>
              <a:t>visits/month</a:t>
            </a:r>
            <a:r>
              <a:rPr dirty="0" sz="2150" spc="-15">
                <a:latin typeface="Arial MT"/>
                <a:cs typeface="Arial MT"/>
              </a:rPr>
              <a:t> </a:t>
            </a:r>
            <a:r>
              <a:rPr dirty="0" sz="2150" spc="-365">
                <a:latin typeface="Arial MT"/>
                <a:cs typeface="Arial MT"/>
              </a:rPr>
              <a:t>« </a:t>
            </a:r>
            <a:r>
              <a:rPr dirty="0" sz="2150" spc="-10">
                <a:latin typeface="Arial MT"/>
                <a:cs typeface="Arial MT"/>
              </a:rPr>
              <a:t>z1,5oo/visit</a:t>
            </a:r>
            <a:endParaRPr sz="2150">
              <a:latin typeface="Arial MT"/>
              <a:cs typeface="Arial MT"/>
            </a:endParaRPr>
          </a:p>
          <a:p>
            <a:pPr marL="14604" marR="5080" indent="-2540">
              <a:lnSpc>
                <a:spcPct val="104600"/>
              </a:lnSpc>
              <a:spcBef>
                <a:spcPts val="1495"/>
              </a:spcBef>
            </a:pPr>
            <a:r>
              <a:rPr dirty="0" sz="1950" spc="-40">
                <a:latin typeface="Arial MT"/>
                <a:cs typeface="Arial MT"/>
              </a:rPr>
              <a:t>Insurers'</a:t>
            </a:r>
            <a:r>
              <a:rPr dirty="0" sz="1950" spc="-65">
                <a:latin typeface="Arial MT"/>
                <a:cs typeface="Arial MT"/>
              </a:rPr>
              <a:t> </a:t>
            </a:r>
            <a:r>
              <a:rPr dirty="0" sz="1950" spc="-10">
                <a:latin typeface="Arial MT"/>
                <a:cs typeface="Arial MT"/>
              </a:rPr>
              <a:t>contribution </a:t>
            </a:r>
            <a:r>
              <a:rPr dirty="0" sz="1950">
                <a:latin typeface="Arial MT"/>
                <a:cs typeface="Arial MT"/>
              </a:rPr>
              <a:t>for</a:t>
            </a:r>
            <a:r>
              <a:rPr dirty="0" sz="1950" spc="-75">
                <a:latin typeface="Arial MT"/>
                <a:cs typeface="Arial MT"/>
              </a:rPr>
              <a:t> </a:t>
            </a:r>
            <a:r>
              <a:rPr dirty="0" sz="1950" spc="-25">
                <a:latin typeface="Arial MT"/>
                <a:cs typeface="Arial MT"/>
              </a:rPr>
              <a:t>EMS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55663" y="6491478"/>
            <a:ext cx="3921760" cy="3582670"/>
          </a:xfrm>
          <a:prstGeom prst="rect">
            <a:avLst/>
          </a:prstGeom>
        </p:spPr>
        <p:txBody>
          <a:bodyPr wrap="square" lIns="0" tIns="157480" rIns="0" bIns="0" rtlCol="0" vert="horz">
            <a:spAutoFit/>
          </a:bodyPr>
          <a:lstStyle/>
          <a:p>
            <a:pPr marL="46990">
              <a:lnSpc>
                <a:spcPct val="100000"/>
              </a:lnSpc>
              <a:spcBef>
                <a:spcPts val="1240"/>
              </a:spcBef>
            </a:pPr>
            <a:r>
              <a:rPr dirty="0" sz="2150" spc="-30">
                <a:latin typeface="Arial MT"/>
                <a:cs typeface="Arial MT"/>
              </a:rPr>
              <a:t>Increased</a:t>
            </a:r>
            <a:r>
              <a:rPr dirty="0" sz="2150" spc="-80">
                <a:latin typeface="Arial MT"/>
                <a:cs typeface="Arial MT"/>
              </a:rPr>
              <a:t> </a:t>
            </a:r>
            <a:r>
              <a:rPr dirty="0" sz="2150" spc="-10">
                <a:latin typeface="Arial MT"/>
                <a:cs typeface="Arial MT"/>
              </a:rPr>
              <a:t>price:</a:t>
            </a:r>
            <a:endParaRPr sz="2150">
              <a:latin typeface="Arial MT"/>
              <a:cs typeface="Arial MT"/>
            </a:endParaRPr>
          </a:p>
          <a:p>
            <a:pPr marL="236854" indent="-230504">
              <a:lnSpc>
                <a:spcPct val="100000"/>
              </a:lnSpc>
              <a:spcBef>
                <a:spcPts val="1140"/>
              </a:spcBef>
              <a:buSzPct val="95348"/>
              <a:buAutoNum type="arabicPeriod"/>
              <a:tabLst>
                <a:tab pos="236854" algn="l"/>
              </a:tabLst>
            </a:pPr>
            <a:r>
              <a:rPr dirty="0" sz="2150" spc="-35">
                <a:latin typeface="Arial MT"/>
                <a:cs typeface="Arial MT"/>
              </a:rPr>
              <a:t>In</a:t>
            </a:r>
            <a:r>
              <a:rPr dirty="0" sz="2150" spc="-160">
                <a:latin typeface="Arial MT"/>
                <a:cs typeface="Arial MT"/>
              </a:rPr>
              <a:t> </a:t>
            </a:r>
            <a:r>
              <a:rPr dirty="0" sz="2150" spc="-20">
                <a:latin typeface="Arial MT"/>
                <a:cs typeface="Arial MT"/>
              </a:rPr>
              <a:t>peak</a:t>
            </a:r>
            <a:r>
              <a:rPr dirty="0" sz="2150" spc="-130">
                <a:latin typeface="Arial MT"/>
                <a:cs typeface="Arial MT"/>
              </a:rPr>
              <a:t> </a:t>
            </a:r>
            <a:r>
              <a:rPr dirty="0" sz="2150" spc="-10">
                <a:latin typeface="Arial MT"/>
                <a:cs typeface="Arial MT"/>
              </a:rPr>
              <a:t>hours</a:t>
            </a:r>
            <a:endParaRPr sz="2150">
              <a:latin typeface="Arial MT"/>
              <a:cs typeface="Arial MT"/>
            </a:endParaRPr>
          </a:p>
          <a:p>
            <a:pPr marL="240665" indent="-229870">
              <a:lnSpc>
                <a:spcPct val="100000"/>
              </a:lnSpc>
              <a:spcBef>
                <a:spcPts val="1140"/>
              </a:spcBef>
              <a:buSzPct val="95348"/>
              <a:buAutoNum type="arabicPeriod"/>
              <a:tabLst>
                <a:tab pos="240665" algn="l"/>
              </a:tabLst>
            </a:pPr>
            <a:r>
              <a:rPr dirty="0" sz="2150" spc="-45">
                <a:latin typeface="Arial MT"/>
                <a:cs typeface="Arial MT"/>
              </a:rPr>
              <a:t>In</a:t>
            </a:r>
            <a:r>
              <a:rPr dirty="0" sz="2150" spc="-114">
                <a:latin typeface="Arial MT"/>
                <a:cs typeface="Arial MT"/>
              </a:rPr>
              <a:t> </a:t>
            </a:r>
            <a:r>
              <a:rPr dirty="0" sz="2150">
                <a:latin typeface="Arial MT"/>
                <a:cs typeface="Arial MT"/>
              </a:rPr>
              <a:t>High</a:t>
            </a:r>
            <a:r>
              <a:rPr dirty="0" sz="2150" spc="-155">
                <a:latin typeface="Arial MT"/>
                <a:cs typeface="Arial MT"/>
              </a:rPr>
              <a:t> </a:t>
            </a:r>
            <a:r>
              <a:rPr dirty="0" sz="2150">
                <a:latin typeface="Arial MT"/>
                <a:cs typeface="Arial MT"/>
              </a:rPr>
              <a:t>traffic</a:t>
            </a:r>
            <a:r>
              <a:rPr dirty="0" sz="2150" spc="60">
                <a:latin typeface="Arial MT"/>
                <a:cs typeface="Arial MT"/>
              </a:rPr>
              <a:t> </a:t>
            </a:r>
            <a:r>
              <a:rPr dirty="0" sz="2150" spc="-10">
                <a:latin typeface="Arial MT"/>
                <a:cs typeface="Arial MT"/>
              </a:rPr>
              <a:t>zones</a:t>
            </a:r>
            <a:endParaRPr sz="2150">
              <a:latin typeface="Arial MT"/>
              <a:cs typeface="Arial MT"/>
            </a:endParaRPr>
          </a:p>
          <a:p>
            <a:pPr marL="20320" marR="521334" indent="-19050">
              <a:lnSpc>
                <a:spcPct val="161900"/>
              </a:lnSpc>
              <a:spcBef>
                <a:spcPts val="235"/>
              </a:spcBef>
              <a:buSzPct val="95348"/>
              <a:buAutoNum type="arabicPeriod"/>
              <a:tabLst>
                <a:tab pos="20320" algn="l"/>
                <a:tab pos="231140" algn="l"/>
              </a:tabLst>
            </a:pPr>
            <a:r>
              <a:rPr dirty="0" sz="2150">
                <a:latin typeface="Arial MT"/>
                <a:cs typeface="Arial MT"/>
              </a:rPr>
              <a:t>	</a:t>
            </a:r>
            <a:r>
              <a:rPr dirty="0" sz="2150">
                <a:latin typeface="Arial MT"/>
                <a:cs typeface="Arial MT"/>
              </a:rPr>
              <a:t>If</a:t>
            </a:r>
            <a:r>
              <a:rPr dirty="0" sz="2150" spc="-114">
                <a:latin typeface="Arial MT"/>
                <a:cs typeface="Arial MT"/>
              </a:rPr>
              <a:t> </a:t>
            </a:r>
            <a:r>
              <a:rPr dirty="0" sz="2150" spc="-10">
                <a:latin typeface="Arial MT"/>
                <a:cs typeface="Arial MT"/>
              </a:rPr>
              <a:t>nearby</a:t>
            </a:r>
            <a:r>
              <a:rPr dirty="0" sz="2150" spc="-105">
                <a:latin typeface="Arial MT"/>
                <a:cs typeface="Arial MT"/>
              </a:rPr>
              <a:t> </a:t>
            </a:r>
            <a:r>
              <a:rPr dirty="0" sz="2150">
                <a:latin typeface="Arial MT"/>
                <a:cs typeface="Arial MT"/>
              </a:rPr>
              <a:t>hospitals</a:t>
            </a:r>
            <a:r>
              <a:rPr dirty="0" sz="2150" spc="-114">
                <a:latin typeface="Arial MT"/>
                <a:cs typeface="Arial MT"/>
              </a:rPr>
              <a:t> </a:t>
            </a:r>
            <a:r>
              <a:rPr dirty="0" sz="2150" spc="-60">
                <a:latin typeface="Arial MT"/>
                <a:cs typeface="Arial MT"/>
              </a:rPr>
              <a:t>are</a:t>
            </a:r>
            <a:r>
              <a:rPr dirty="0" sz="2150" spc="-140">
                <a:latin typeface="Arial MT"/>
                <a:cs typeface="Arial MT"/>
              </a:rPr>
              <a:t> </a:t>
            </a:r>
            <a:r>
              <a:rPr dirty="0" sz="2150" spc="55">
                <a:latin typeface="Arial MT"/>
                <a:cs typeface="Arial MT"/>
              </a:rPr>
              <a:t>full </a:t>
            </a:r>
            <a:r>
              <a:rPr dirty="0" sz="2150" spc="-25">
                <a:latin typeface="Arial MT"/>
                <a:cs typeface="Arial MT"/>
              </a:rPr>
              <a:t>4.Discounts</a:t>
            </a:r>
            <a:r>
              <a:rPr dirty="0" sz="2150" spc="-50">
                <a:latin typeface="Arial MT"/>
                <a:cs typeface="Arial MT"/>
              </a:rPr>
              <a:t> </a:t>
            </a:r>
            <a:r>
              <a:rPr dirty="0" sz="2150">
                <a:latin typeface="Arial MT"/>
                <a:cs typeface="Arial MT"/>
              </a:rPr>
              <a:t>for</a:t>
            </a:r>
            <a:r>
              <a:rPr dirty="0" sz="2150" spc="-155">
                <a:latin typeface="Arial MT"/>
                <a:cs typeface="Arial MT"/>
              </a:rPr>
              <a:t> </a:t>
            </a:r>
            <a:r>
              <a:rPr dirty="0" sz="2150" spc="-10">
                <a:latin typeface="Arial MT"/>
                <a:cs typeface="Arial MT"/>
              </a:rPr>
              <a:t>susbscribers</a:t>
            </a:r>
            <a:endParaRPr sz="2150">
              <a:latin typeface="Arial MT"/>
              <a:cs typeface="Arial MT"/>
            </a:endParaRPr>
          </a:p>
          <a:p>
            <a:pPr marL="241300" indent="-230504">
              <a:lnSpc>
                <a:spcPct val="100000"/>
              </a:lnSpc>
              <a:spcBef>
                <a:spcPts val="1600"/>
              </a:spcBef>
              <a:buSzPct val="95348"/>
              <a:buAutoNum type="arabicPeriod" startAt="5"/>
              <a:tabLst>
                <a:tab pos="241300" algn="l"/>
              </a:tabLst>
            </a:pPr>
            <a:r>
              <a:rPr dirty="0" sz="2150">
                <a:latin typeface="Arial MT"/>
                <a:cs typeface="Arial MT"/>
              </a:rPr>
              <a:t>Higher</a:t>
            </a:r>
            <a:r>
              <a:rPr dirty="0" sz="2150" spc="105">
                <a:latin typeface="Arial MT"/>
                <a:cs typeface="Arial MT"/>
              </a:rPr>
              <a:t> </a:t>
            </a:r>
            <a:r>
              <a:rPr dirty="0" sz="2150">
                <a:latin typeface="Arial MT"/>
                <a:cs typeface="Arial MT"/>
              </a:rPr>
              <a:t>for</a:t>
            </a:r>
            <a:r>
              <a:rPr dirty="0" sz="2150" spc="-114">
                <a:latin typeface="Arial MT"/>
                <a:cs typeface="Arial MT"/>
              </a:rPr>
              <a:t> </a:t>
            </a:r>
            <a:r>
              <a:rPr dirty="0" sz="2150" spc="10">
                <a:latin typeface="Arial MT"/>
                <a:cs typeface="Arial MT"/>
              </a:rPr>
              <a:t>critical</a:t>
            </a:r>
            <a:r>
              <a:rPr dirty="0" sz="2150" spc="-240">
                <a:latin typeface="Arial MT"/>
                <a:cs typeface="Arial MT"/>
              </a:rPr>
              <a:t> </a:t>
            </a:r>
            <a:r>
              <a:rPr dirty="0" sz="2150" spc="-10">
                <a:latin typeface="Arial MT"/>
                <a:cs typeface="Arial MT"/>
              </a:rPr>
              <a:t>emergencies</a:t>
            </a:r>
            <a:endParaRPr sz="2150">
              <a:latin typeface="Arial MT"/>
              <a:cs typeface="Arial MT"/>
            </a:endParaRPr>
          </a:p>
          <a:p>
            <a:pPr marL="241935" indent="-230504">
              <a:lnSpc>
                <a:spcPct val="100000"/>
              </a:lnSpc>
              <a:spcBef>
                <a:spcPts val="1500"/>
              </a:spcBef>
              <a:buSzPct val="95348"/>
              <a:buAutoNum type="arabicPeriod" startAt="5"/>
              <a:tabLst>
                <a:tab pos="241935" algn="l"/>
              </a:tabLst>
            </a:pPr>
            <a:r>
              <a:rPr dirty="0" sz="2150" spc="-10">
                <a:latin typeface="Arial MT"/>
                <a:cs typeface="Arial MT"/>
              </a:rPr>
              <a:t>Higher</a:t>
            </a:r>
            <a:r>
              <a:rPr dirty="0" sz="2150" spc="-125">
                <a:latin typeface="Arial MT"/>
                <a:cs typeface="Arial MT"/>
              </a:rPr>
              <a:t> </a:t>
            </a:r>
            <a:r>
              <a:rPr dirty="0" sz="2150" spc="60">
                <a:latin typeface="Arial MT"/>
                <a:cs typeface="Arial MT"/>
              </a:rPr>
              <a:t>in</a:t>
            </a:r>
            <a:r>
              <a:rPr dirty="0" sz="2150" spc="-270">
                <a:latin typeface="Arial MT"/>
                <a:cs typeface="Arial MT"/>
              </a:rPr>
              <a:t> </a:t>
            </a:r>
            <a:r>
              <a:rPr dirty="0" sz="2150" spc="-10">
                <a:latin typeface="Arial MT"/>
                <a:cs typeface="Arial MT"/>
              </a:rPr>
              <a:t>extreme</a:t>
            </a:r>
            <a:r>
              <a:rPr dirty="0" sz="2150" spc="-125">
                <a:latin typeface="Arial MT"/>
                <a:cs typeface="Arial MT"/>
              </a:rPr>
              <a:t> </a:t>
            </a:r>
            <a:r>
              <a:rPr dirty="0" sz="2150" spc="-10">
                <a:latin typeface="Arial MT"/>
                <a:cs typeface="Arial MT"/>
              </a:rPr>
              <a:t>weather</a:t>
            </a:r>
            <a:endParaRPr sz="215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373863" y="3524250"/>
            <a:ext cx="341630" cy="3530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50" spc="-25">
                <a:latin typeface="Arial MT"/>
                <a:cs typeface="Arial MT"/>
              </a:rPr>
              <a:t>10</a:t>
            </a:r>
            <a:endParaRPr sz="215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370791" y="4999482"/>
            <a:ext cx="344805" cy="3530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50" spc="-25">
                <a:latin typeface="Arial MT"/>
                <a:cs typeface="Arial MT"/>
              </a:rPr>
              <a:t>30</a:t>
            </a:r>
            <a:endParaRPr sz="215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243899" y="7619238"/>
            <a:ext cx="429895" cy="1442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13335">
              <a:lnSpc>
                <a:spcPts val="2010"/>
              </a:lnSpc>
              <a:spcBef>
                <a:spcPts val="100"/>
              </a:spcBef>
            </a:pPr>
            <a:r>
              <a:rPr dirty="0" sz="1850" spc="-25">
                <a:latin typeface="Arial MT"/>
                <a:cs typeface="Arial MT"/>
              </a:rPr>
              <a:t>120</a:t>
            </a:r>
            <a:endParaRPr sz="1850">
              <a:latin typeface="Arial MT"/>
              <a:cs typeface="Arial MT"/>
            </a:endParaRPr>
          </a:p>
          <a:p>
            <a:pPr algn="r" marR="13335">
              <a:lnSpc>
                <a:spcPts val="1800"/>
              </a:lnSpc>
            </a:pPr>
            <a:r>
              <a:rPr dirty="0" sz="1850" spc="-25">
                <a:latin typeface="Arial MT"/>
                <a:cs typeface="Arial MT"/>
              </a:rPr>
              <a:t>100</a:t>
            </a:r>
            <a:endParaRPr sz="1850">
              <a:latin typeface="Arial MT"/>
              <a:cs typeface="Arial MT"/>
            </a:endParaRPr>
          </a:p>
          <a:p>
            <a:pPr algn="r" marR="5080">
              <a:lnSpc>
                <a:spcPts val="1814"/>
              </a:lnSpc>
            </a:pPr>
            <a:r>
              <a:rPr dirty="0" sz="1850" spc="-25">
                <a:latin typeface="Arial MT"/>
                <a:cs typeface="Arial MT"/>
              </a:rPr>
              <a:t>80</a:t>
            </a:r>
            <a:endParaRPr sz="1850">
              <a:latin typeface="Arial MT"/>
              <a:cs typeface="Arial MT"/>
            </a:endParaRPr>
          </a:p>
          <a:p>
            <a:pPr algn="r" marR="5715">
              <a:lnSpc>
                <a:spcPts val="1760"/>
              </a:lnSpc>
            </a:pPr>
            <a:r>
              <a:rPr dirty="0" sz="1800" spc="-25">
                <a:latin typeface="Arial MT"/>
                <a:cs typeface="Arial MT"/>
              </a:rPr>
              <a:t>60</a:t>
            </a:r>
            <a:endParaRPr sz="1800">
              <a:latin typeface="Arial MT"/>
              <a:cs typeface="Arial MT"/>
            </a:endParaRPr>
          </a:p>
          <a:p>
            <a:pPr algn="r" marR="5715">
              <a:lnSpc>
                <a:spcPts val="1725"/>
              </a:lnSpc>
            </a:pPr>
            <a:r>
              <a:rPr dirty="0" sz="1800" spc="-25">
                <a:latin typeface="Arial MT"/>
                <a:cs typeface="Arial MT"/>
              </a:rPr>
              <a:t>40</a:t>
            </a:r>
            <a:endParaRPr sz="1800">
              <a:latin typeface="Arial MT"/>
              <a:cs typeface="Arial MT"/>
            </a:endParaRPr>
          </a:p>
          <a:p>
            <a:pPr algn="r" marR="5080">
              <a:lnSpc>
                <a:spcPts val="2050"/>
              </a:lnSpc>
            </a:pPr>
            <a:r>
              <a:rPr dirty="0" sz="1900" spc="-25">
                <a:latin typeface="Arial MT"/>
                <a:cs typeface="Arial MT"/>
              </a:rPr>
              <a:t>20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7784957" y="3265089"/>
            <a:ext cx="381000" cy="1422400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algn="r" marR="10795">
              <a:lnSpc>
                <a:spcPct val="100000"/>
              </a:lnSpc>
              <a:spcBef>
                <a:spcPts val="215"/>
              </a:spcBef>
            </a:pPr>
            <a:r>
              <a:rPr dirty="0" sz="1700" spc="-25">
                <a:latin typeface="Arial MT"/>
                <a:cs typeface="Arial MT"/>
              </a:rPr>
              <a:t>100</a:t>
            </a:r>
            <a:endParaRPr sz="1700">
              <a:latin typeface="Arial MT"/>
              <a:cs typeface="Arial MT"/>
            </a:endParaRPr>
          </a:p>
          <a:p>
            <a:pPr algn="r" marR="6350">
              <a:lnSpc>
                <a:spcPct val="100000"/>
              </a:lnSpc>
              <a:spcBef>
                <a:spcPts val="114"/>
              </a:spcBef>
            </a:pPr>
            <a:r>
              <a:rPr dirty="0" sz="1750" spc="-25">
                <a:latin typeface="Arial MT"/>
                <a:cs typeface="Arial MT"/>
              </a:rPr>
              <a:t>80</a:t>
            </a:r>
            <a:endParaRPr sz="175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234"/>
              </a:spcBef>
            </a:pPr>
            <a:r>
              <a:rPr dirty="0" sz="1650" spc="-25">
                <a:latin typeface="Arial MT"/>
                <a:cs typeface="Arial MT"/>
              </a:rPr>
              <a:t>60</a:t>
            </a:r>
            <a:endParaRPr sz="165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150"/>
              </a:spcBef>
            </a:pPr>
            <a:r>
              <a:rPr dirty="0" sz="1700" spc="-25">
                <a:latin typeface="Arial MT"/>
                <a:cs typeface="Arial MT"/>
              </a:rPr>
              <a:t>40</a:t>
            </a:r>
            <a:endParaRPr sz="1700">
              <a:latin typeface="Arial MT"/>
              <a:cs typeface="Arial MT"/>
            </a:endParaRPr>
          </a:p>
          <a:p>
            <a:pPr algn="r" marR="6350">
              <a:lnSpc>
                <a:spcPct val="100000"/>
              </a:lnSpc>
              <a:spcBef>
                <a:spcPts val="120"/>
              </a:spcBef>
            </a:pPr>
            <a:r>
              <a:rPr dirty="0" sz="1750" spc="-25">
                <a:latin typeface="Arial MT"/>
                <a:cs typeface="Arial MT"/>
              </a:rPr>
              <a:t>20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6578617" y="6597904"/>
            <a:ext cx="206184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75">
                <a:latin typeface="Arial MT"/>
                <a:cs typeface="Arial MT"/>
              </a:rPr>
              <a:t>Fixed</a:t>
            </a:r>
            <a:r>
              <a:rPr dirty="0" sz="1900" spc="-55">
                <a:latin typeface="Arial MT"/>
                <a:cs typeface="Arial MT"/>
              </a:rPr>
              <a:t> </a:t>
            </a:r>
            <a:r>
              <a:rPr dirty="0" sz="1900" spc="-40">
                <a:latin typeface="Arial MT"/>
                <a:cs typeface="Arial MT"/>
              </a:rPr>
              <a:t>Pricing</a:t>
            </a:r>
            <a:r>
              <a:rPr dirty="0" sz="1900" spc="-5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Model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7402394" y="9883902"/>
            <a:ext cx="553720" cy="307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50" spc="-130">
                <a:latin typeface="Arial MT"/>
                <a:cs typeface="Arial MT"/>
              </a:rPr>
              <a:t>Years</a:t>
            </a:r>
            <a:endParaRPr sz="1850">
              <a:latin typeface="Arial MT"/>
              <a:cs typeface="Arial MT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4919706" y="1435861"/>
            <a:ext cx="3152775" cy="4597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16965" algn="l"/>
                <a:tab pos="2853055" algn="l"/>
              </a:tabLst>
            </a:pPr>
            <a:r>
              <a:rPr dirty="0" sz="2850" spc="-10">
                <a:latin typeface="Arial MT"/>
                <a:cs typeface="Arial MT"/>
              </a:rPr>
              <a:t>Cross</a:t>
            </a:r>
            <a:r>
              <a:rPr dirty="0" sz="2850">
                <a:latin typeface="Arial MT"/>
                <a:cs typeface="Arial MT"/>
              </a:rPr>
              <a:t>	</a:t>
            </a:r>
            <a:r>
              <a:rPr dirty="0" sz="2850" spc="-10">
                <a:latin typeface="Arial MT"/>
                <a:cs typeface="Arial MT"/>
              </a:rPr>
              <a:t>utilisation</a:t>
            </a:r>
            <a:r>
              <a:rPr dirty="0" sz="2850">
                <a:latin typeface="Arial MT"/>
                <a:cs typeface="Arial MT"/>
              </a:rPr>
              <a:t>	</a:t>
            </a:r>
            <a:r>
              <a:rPr dirty="0" sz="2850" spc="-40">
                <a:latin typeface="Arial MT"/>
                <a:cs typeface="Arial MT"/>
              </a:rPr>
              <a:t>of</a:t>
            </a:r>
            <a:endParaRPr sz="2850">
              <a:latin typeface="Arial MT"/>
              <a:cs typeface="Arial MT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8605123" y="2326893"/>
            <a:ext cx="5468620" cy="8604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700655" algn="l"/>
              </a:tabLst>
            </a:pPr>
            <a:r>
              <a:rPr dirty="0" sz="2050" spc="-355">
                <a:solidFill>
                  <a:srgbClr val="0049AC"/>
                </a:solidFill>
                <a:latin typeface="Arial MT"/>
                <a:cs typeface="Arial MT"/>
              </a:rPr>
              <a:t>@</a:t>
            </a:r>
            <a:r>
              <a:rPr dirty="0" sz="2050" spc="210">
                <a:solidFill>
                  <a:srgbClr val="0049AC"/>
                </a:solidFill>
                <a:latin typeface="Arial MT"/>
                <a:cs typeface="Arial MT"/>
              </a:rPr>
              <a:t> </a:t>
            </a:r>
            <a:r>
              <a:rPr dirty="0" sz="1600" spc="60">
                <a:latin typeface="Arial MT"/>
                <a:cs typeface="Arial MT"/>
              </a:rPr>
              <a:t>S</a:t>
            </a:r>
            <a:r>
              <a:rPr dirty="0" sz="2050" spc="60">
                <a:latin typeface="Arial MT"/>
                <a:cs typeface="Arial MT"/>
              </a:rPr>
              <a:t>ubscripti</a:t>
            </a:r>
            <a:r>
              <a:rPr dirty="0" sz="2050" spc="-40">
                <a:latin typeface="Arial MT"/>
                <a:cs typeface="Arial MT"/>
              </a:rPr>
              <a:t>o</a:t>
            </a:r>
            <a:r>
              <a:rPr dirty="0" sz="2050" spc="-495">
                <a:latin typeface="Arial MT"/>
                <a:cs typeface="Arial MT"/>
              </a:rPr>
              <a:t>r</a:t>
            </a:r>
            <a:r>
              <a:rPr dirty="0" sz="2050" spc="-635">
                <a:latin typeface="Arial MT"/>
                <a:cs typeface="Arial MT"/>
              </a:rPr>
              <a:t>n</a:t>
            </a:r>
            <a:r>
              <a:rPr dirty="0" sz="2050" spc="60">
                <a:latin typeface="Arial MT"/>
                <a:cs typeface="Arial MT"/>
              </a:rPr>
              <a:t>evenu</a:t>
            </a:r>
            <a:r>
              <a:rPr dirty="0" sz="2050" spc="70">
                <a:latin typeface="Arial MT"/>
                <a:cs typeface="Arial MT"/>
              </a:rPr>
              <a:t>e</a:t>
            </a:r>
            <a:r>
              <a:rPr dirty="0" sz="2050">
                <a:latin typeface="Arial MT"/>
                <a:cs typeface="Arial MT"/>
              </a:rPr>
              <a:t>	</a:t>
            </a:r>
            <a:r>
              <a:rPr dirty="0" sz="2050" spc="-355">
                <a:solidFill>
                  <a:srgbClr val="2D8ABA"/>
                </a:solidFill>
                <a:latin typeface="Arial MT"/>
                <a:cs typeface="Arial MT"/>
              </a:rPr>
              <a:t>@</a:t>
            </a:r>
            <a:r>
              <a:rPr dirty="0" sz="2050" spc="114">
                <a:solidFill>
                  <a:srgbClr val="2D8ABA"/>
                </a:solidFill>
                <a:latin typeface="Arial MT"/>
                <a:cs typeface="Arial MT"/>
              </a:rPr>
              <a:t> </a:t>
            </a:r>
            <a:r>
              <a:rPr dirty="0" sz="2050" spc="-305">
                <a:latin typeface="Arial MT"/>
                <a:cs typeface="Arial MT"/>
              </a:rPr>
              <a:t>Home</a:t>
            </a:r>
            <a:r>
              <a:rPr dirty="0" sz="2050" spc="-60">
                <a:latin typeface="Arial MT"/>
                <a:cs typeface="Arial MT"/>
              </a:rPr>
              <a:t> </a:t>
            </a:r>
            <a:r>
              <a:rPr dirty="0" sz="2050" spc="-229">
                <a:latin typeface="Arial MT"/>
                <a:cs typeface="Arial MT"/>
              </a:rPr>
              <a:t>Healthcare</a:t>
            </a:r>
            <a:r>
              <a:rPr dirty="0" sz="2050" spc="35">
                <a:latin typeface="Arial MT"/>
                <a:cs typeface="Arial MT"/>
              </a:rPr>
              <a:t> </a:t>
            </a:r>
            <a:r>
              <a:rPr dirty="0" sz="2050" spc="-300">
                <a:latin typeface="Arial MT"/>
                <a:cs typeface="Arial MT"/>
              </a:rPr>
              <a:t>Revenue</a:t>
            </a:r>
            <a:endParaRPr sz="2050">
              <a:latin typeface="Arial MT"/>
              <a:cs typeface="Arial MT"/>
            </a:endParaRPr>
          </a:p>
          <a:p>
            <a:pPr algn="ctr" marL="366395">
              <a:lnSpc>
                <a:spcPct val="100000"/>
              </a:lnSpc>
              <a:spcBef>
                <a:spcPts val="1595"/>
              </a:spcBef>
            </a:pPr>
            <a:r>
              <a:rPr dirty="0" sz="1700" spc="-25">
                <a:latin typeface="Arial MT"/>
                <a:cs typeface="Arial MT"/>
              </a:rPr>
              <a:t>l</a:t>
            </a:r>
            <a:r>
              <a:rPr dirty="0" sz="1800" spc="-25">
                <a:latin typeface="Arial MT"/>
                <a:cs typeface="Arial MT"/>
              </a:rPr>
              <a:t>n</a:t>
            </a:r>
            <a:r>
              <a:rPr dirty="0" sz="1700" spc="-25">
                <a:latin typeface="Arial MT"/>
                <a:cs typeface="Arial MT"/>
              </a:rPr>
              <a:t>su</a:t>
            </a:r>
            <a:r>
              <a:rPr dirty="0" sz="1600" spc="-25">
                <a:latin typeface="Arial MT"/>
                <a:cs typeface="Arial MT"/>
              </a:rPr>
              <a:t>r</a:t>
            </a:r>
            <a:r>
              <a:rPr dirty="0" sz="1900" spc="-25">
                <a:latin typeface="Arial MT"/>
                <a:cs typeface="Arial MT"/>
              </a:rPr>
              <a:t>a</a:t>
            </a:r>
            <a:r>
              <a:rPr dirty="0" sz="1800" spc="-25">
                <a:latin typeface="Arial MT"/>
                <a:cs typeface="Arial MT"/>
              </a:rPr>
              <a:t>n</a:t>
            </a:r>
            <a:r>
              <a:rPr dirty="0" sz="1700" spc="-25">
                <a:latin typeface="Arial MT"/>
                <a:cs typeface="Arial MT"/>
              </a:rPr>
              <a:t>c</a:t>
            </a:r>
            <a:r>
              <a:rPr dirty="0" sz="2100" spc="-25">
                <a:latin typeface="Arial MT"/>
                <a:cs typeface="Arial MT"/>
              </a:rPr>
              <a:t>e</a:t>
            </a:r>
            <a:r>
              <a:rPr dirty="0" sz="1900" spc="-25">
                <a:latin typeface="Arial MT"/>
                <a:cs typeface="Arial MT"/>
              </a:rPr>
              <a:t>R</a:t>
            </a:r>
            <a:r>
              <a:rPr dirty="0" sz="2100" spc="-25">
                <a:latin typeface="Arial MT"/>
                <a:cs typeface="Arial MT"/>
              </a:rPr>
              <a:t>e</a:t>
            </a:r>
            <a:r>
              <a:rPr dirty="0" sz="1600" spc="-25">
                <a:latin typeface="Arial MT"/>
                <a:cs typeface="Arial MT"/>
              </a:rPr>
              <a:t>v</a:t>
            </a:r>
            <a:r>
              <a:rPr dirty="0" sz="2100" spc="-25">
                <a:latin typeface="Arial MT"/>
                <a:cs typeface="Arial MT"/>
              </a:rPr>
              <a:t>e</a:t>
            </a:r>
            <a:r>
              <a:rPr dirty="0" sz="1800" spc="-25">
                <a:latin typeface="Arial MT"/>
                <a:cs typeface="Arial MT"/>
              </a:rPr>
              <a:t>n</a:t>
            </a:r>
            <a:r>
              <a:rPr dirty="0" sz="1700" spc="-25">
                <a:latin typeface="Arial MT"/>
                <a:cs typeface="Arial MT"/>
              </a:rPr>
              <a:t>u</a:t>
            </a:r>
            <a:r>
              <a:rPr dirty="0" sz="2100" spc="-25">
                <a:latin typeface="Arial MT"/>
                <a:cs typeface="Arial MT"/>
              </a:rPr>
              <a:t>e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4920924" y="1686149"/>
            <a:ext cx="3201670" cy="2132330"/>
          </a:xfrm>
          <a:prstGeom prst="rect">
            <a:avLst/>
          </a:prstGeom>
        </p:spPr>
        <p:txBody>
          <a:bodyPr wrap="square" lIns="0" tIns="2247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70"/>
              </a:spcBef>
              <a:tabLst>
                <a:tab pos="2574290" algn="l"/>
              </a:tabLst>
            </a:pPr>
            <a:r>
              <a:rPr dirty="0" sz="3000" spc="-10">
                <a:latin typeface="Arial MT"/>
                <a:cs typeface="Arial MT"/>
              </a:rPr>
              <a:t>ambulatnce</a:t>
            </a:r>
            <a:r>
              <a:rPr dirty="0" sz="3000">
                <a:latin typeface="Arial MT"/>
                <a:cs typeface="Arial MT"/>
              </a:rPr>
              <a:t>	</a:t>
            </a:r>
            <a:r>
              <a:rPr dirty="0" sz="3000" spc="-25">
                <a:latin typeface="Arial MT"/>
                <a:cs typeface="Arial MT"/>
              </a:rPr>
              <a:t>can</a:t>
            </a:r>
            <a:endParaRPr sz="3000">
              <a:latin typeface="Arial MT"/>
              <a:cs typeface="Arial MT"/>
            </a:endParaRPr>
          </a:p>
          <a:p>
            <a:pPr marL="20955">
              <a:lnSpc>
                <a:spcPct val="100000"/>
              </a:lnSpc>
              <a:spcBef>
                <a:spcPts val="1140"/>
              </a:spcBef>
              <a:tabLst>
                <a:tab pos="2609215" algn="l"/>
              </a:tabLst>
            </a:pPr>
            <a:r>
              <a:rPr dirty="0" sz="2050" spc="415">
                <a:latin typeface="Arial MT"/>
                <a:cs typeface="Arial MT"/>
              </a:rPr>
              <a:t>happen</a:t>
            </a:r>
            <a:r>
              <a:rPr dirty="0" sz="2050">
                <a:latin typeface="Arial MT"/>
                <a:cs typeface="Arial MT"/>
              </a:rPr>
              <a:t>	</a:t>
            </a:r>
            <a:r>
              <a:rPr dirty="0" sz="2050" spc="385">
                <a:latin typeface="Arial MT"/>
                <a:cs typeface="Arial MT"/>
              </a:rPr>
              <a:t>use</a:t>
            </a:r>
            <a:endParaRPr sz="2050">
              <a:latin typeface="Arial MT"/>
              <a:cs typeface="Arial MT"/>
            </a:endParaRPr>
          </a:p>
          <a:p>
            <a:pPr marL="15875">
              <a:lnSpc>
                <a:spcPct val="100000"/>
              </a:lnSpc>
              <a:spcBef>
                <a:spcPts val="1110"/>
              </a:spcBef>
            </a:pPr>
            <a:r>
              <a:rPr dirty="0" sz="2250" spc="265">
                <a:latin typeface="Arial MT"/>
                <a:cs typeface="Arial MT"/>
              </a:rPr>
              <a:t>ambulances</a:t>
            </a:r>
            <a:endParaRPr sz="2250">
              <a:latin typeface="Arial MT"/>
              <a:cs typeface="Arial MT"/>
            </a:endParaRPr>
          </a:p>
          <a:p>
            <a:pPr marL="13335">
              <a:lnSpc>
                <a:spcPct val="100000"/>
              </a:lnSpc>
              <a:spcBef>
                <a:spcPts val="370"/>
              </a:spcBef>
            </a:pPr>
            <a:r>
              <a:rPr dirty="0" sz="2950" spc="-95">
                <a:latin typeface="Arial MT"/>
                <a:cs typeface="Arial MT"/>
              </a:rPr>
              <a:t>non-</a:t>
            </a:r>
            <a:r>
              <a:rPr dirty="0" sz="2950" spc="-10">
                <a:latin typeface="Arial MT"/>
                <a:cs typeface="Arial MT"/>
              </a:rPr>
              <a:t>emergency</a:t>
            </a:r>
            <a:endParaRPr sz="2950">
              <a:latin typeface="Arial MT"/>
              <a:cs typeface="Arial MT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6644022" y="3818635"/>
            <a:ext cx="1430020" cy="965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28575">
              <a:lnSpc>
                <a:spcPct val="100000"/>
              </a:lnSpc>
              <a:spcBef>
                <a:spcPts val="100"/>
              </a:spcBef>
            </a:pPr>
            <a:r>
              <a:rPr dirty="0" sz="3000" spc="-105">
                <a:latin typeface="Arial MT"/>
                <a:cs typeface="Arial MT"/>
              </a:rPr>
              <a:t>transport</a:t>
            </a:r>
            <a:endParaRPr sz="30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140"/>
              </a:spcBef>
            </a:pPr>
            <a:r>
              <a:rPr dirty="0" sz="3050" spc="-20">
                <a:latin typeface="Arial MT"/>
                <a:cs typeface="Arial MT"/>
              </a:rPr>
              <a:t>peak</a:t>
            </a:r>
            <a:endParaRPr sz="3050">
              <a:latin typeface="Arial MT"/>
              <a:cs typeface="Arial MT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8624091" y="4851146"/>
            <a:ext cx="488315" cy="322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50" spc="-170">
                <a:latin typeface="Arial MT"/>
                <a:cs typeface="Arial MT"/>
              </a:rPr>
              <a:t>2025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9895106" y="4851146"/>
            <a:ext cx="488315" cy="322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50" spc="-170">
                <a:latin typeface="Arial MT"/>
                <a:cs typeface="Arial MT"/>
              </a:rPr>
              <a:t>2026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2431043" y="4851146"/>
            <a:ext cx="482600" cy="322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50" spc="-175">
                <a:latin typeface="Arial MT"/>
                <a:cs typeface="Arial MT"/>
              </a:rPr>
              <a:t>2028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13699007" y="4851146"/>
            <a:ext cx="482600" cy="322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50" spc="-175">
                <a:latin typeface="Arial MT"/>
                <a:cs typeface="Arial MT"/>
              </a:rPr>
              <a:t>2029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14918397" y="3818635"/>
            <a:ext cx="1090930" cy="14160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875">
              <a:lnSpc>
                <a:spcPct val="100000"/>
              </a:lnSpc>
              <a:spcBef>
                <a:spcPts val="100"/>
              </a:spcBef>
            </a:pPr>
            <a:r>
              <a:rPr dirty="0" sz="3000" spc="-90">
                <a:latin typeface="Arial MT"/>
                <a:cs typeface="Arial MT"/>
              </a:rPr>
              <a:t>patient</a:t>
            </a:r>
            <a:endParaRPr sz="3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050" spc="-10">
                <a:latin typeface="Arial MT"/>
                <a:cs typeface="Arial MT"/>
              </a:rPr>
              <a:t>during</a:t>
            </a:r>
            <a:endParaRPr sz="3050">
              <a:latin typeface="Arial MT"/>
              <a:cs typeface="Arial MT"/>
            </a:endParaRPr>
          </a:p>
          <a:p>
            <a:pPr marL="24765">
              <a:lnSpc>
                <a:spcPct val="100000"/>
              </a:lnSpc>
              <a:spcBef>
                <a:spcPts val="1210"/>
              </a:spcBef>
            </a:pPr>
            <a:r>
              <a:rPr dirty="0" sz="1950" spc="345">
                <a:latin typeface="Arial MT"/>
                <a:cs typeface="Arial MT"/>
              </a:rPr>
              <a:t>hours.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11151693" y="4816475"/>
            <a:ext cx="506095" cy="647065"/>
          </a:xfrm>
          <a:prstGeom prst="rect">
            <a:avLst/>
          </a:prstGeom>
        </p:spPr>
        <p:txBody>
          <a:bodyPr wrap="square" lIns="0" tIns="46990" rIns="0" bIns="0" rtlCol="0" vert="horz">
            <a:spAutoFit/>
          </a:bodyPr>
          <a:lstStyle/>
          <a:p>
            <a:pPr marL="20955">
              <a:lnSpc>
                <a:spcPct val="100000"/>
              </a:lnSpc>
              <a:spcBef>
                <a:spcPts val="370"/>
              </a:spcBef>
            </a:pPr>
            <a:r>
              <a:rPr dirty="0" sz="1950" spc="-145">
                <a:latin typeface="Arial MT"/>
                <a:cs typeface="Arial MT"/>
              </a:rPr>
              <a:t>2027</a:t>
            </a:r>
            <a:endParaRPr sz="19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z="1700" spc="-75">
                <a:latin typeface="Arial MT"/>
                <a:cs typeface="Arial MT"/>
              </a:rPr>
              <a:t>years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6234812" y="7180071"/>
            <a:ext cx="275907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>
                <a:solidFill>
                  <a:srgbClr val="0370FF"/>
                </a:solidFill>
                <a:latin typeface="Arial MT"/>
                <a:cs typeface="Arial MT"/>
              </a:rPr>
              <a:t>@</a:t>
            </a:r>
            <a:r>
              <a:rPr dirty="0" sz="1900" spc="114">
                <a:solidFill>
                  <a:srgbClr val="0370FF"/>
                </a:solidFill>
                <a:latin typeface="Arial MT"/>
                <a:cs typeface="Arial MT"/>
              </a:rPr>
              <a:t> </a:t>
            </a:r>
            <a:r>
              <a:rPr dirty="0" sz="1900" spc="-50">
                <a:latin typeface="Arial MT"/>
                <a:cs typeface="Arial MT"/>
              </a:rPr>
              <a:t>Dynamic</a:t>
            </a:r>
            <a:r>
              <a:rPr dirty="0" sz="1900" spc="20">
                <a:latin typeface="Arial MT"/>
                <a:cs typeface="Arial MT"/>
              </a:rPr>
              <a:t> </a:t>
            </a:r>
            <a:r>
              <a:rPr dirty="0" sz="1900" spc="-35">
                <a:latin typeface="Arial MT"/>
                <a:cs typeface="Arial MT"/>
              </a:rPr>
              <a:t>Pricing</a:t>
            </a:r>
            <a:r>
              <a:rPr dirty="0" sz="1900" spc="-2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Model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10452418" y="7189470"/>
            <a:ext cx="2350770" cy="20129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877569" marR="23495" indent="100965">
              <a:lnSpc>
                <a:spcPct val="121900"/>
              </a:lnSpc>
              <a:spcBef>
                <a:spcPts val="95"/>
              </a:spcBef>
            </a:pPr>
            <a:r>
              <a:rPr dirty="0" sz="2150" spc="-105">
                <a:latin typeface="Arial MT"/>
                <a:cs typeface="Arial MT"/>
              </a:rPr>
              <a:t>Fuel/Energy </a:t>
            </a:r>
            <a:r>
              <a:rPr dirty="0" sz="2150" spc="-100">
                <a:latin typeface="Arial MT"/>
                <a:cs typeface="Arial MT"/>
              </a:rPr>
              <a:t>Maintanance</a:t>
            </a:r>
            <a:endParaRPr sz="2150">
              <a:latin typeface="Arial MT"/>
              <a:cs typeface="Arial MT"/>
            </a:endParaRPr>
          </a:p>
          <a:p>
            <a:pPr algn="just" marL="554355" marR="5080" indent="-542290">
              <a:lnSpc>
                <a:spcPct val="120900"/>
              </a:lnSpc>
              <a:spcBef>
                <a:spcPts val="5"/>
              </a:spcBef>
            </a:pPr>
            <a:r>
              <a:rPr dirty="0" sz="2150" spc="-114">
                <a:latin typeface="Arial MT"/>
                <a:cs typeface="Arial MT"/>
              </a:rPr>
              <a:t>Battery</a:t>
            </a:r>
            <a:r>
              <a:rPr dirty="0" sz="2150" spc="-15">
                <a:latin typeface="Arial MT"/>
                <a:cs typeface="Arial MT"/>
              </a:rPr>
              <a:t> </a:t>
            </a:r>
            <a:r>
              <a:rPr dirty="0" sz="2150" spc="-100">
                <a:latin typeface="Arial MT"/>
                <a:cs typeface="Arial MT"/>
              </a:rPr>
              <a:t>Replacement </a:t>
            </a:r>
            <a:r>
              <a:rPr dirty="0" sz="2150" spc="-155">
                <a:latin typeface="Arial MT"/>
                <a:cs typeface="Arial MT"/>
              </a:rPr>
              <a:t>Govt.</a:t>
            </a:r>
            <a:r>
              <a:rPr dirty="0" sz="2150" spc="35">
                <a:latin typeface="Arial MT"/>
                <a:cs typeface="Arial MT"/>
              </a:rPr>
              <a:t> </a:t>
            </a:r>
            <a:r>
              <a:rPr dirty="0" sz="2150" spc="-80">
                <a:latin typeface="Arial MT"/>
                <a:cs typeface="Arial MT"/>
              </a:rPr>
              <a:t>Incentives </a:t>
            </a:r>
            <a:r>
              <a:rPr dirty="0" sz="2150" spc="-85">
                <a:latin typeface="Arial MT"/>
                <a:cs typeface="Arial MT"/>
              </a:rPr>
              <a:t>Charging</a:t>
            </a:r>
            <a:r>
              <a:rPr dirty="0" sz="2150" spc="-30">
                <a:latin typeface="Arial MT"/>
                <a:cs typeface="Arial MT"/>
              </a:rPr>
              <a:t> Costs</a:t>
            </a:r>
            <a:endParaRPr sz="2150">
              <a:latin typeface="Arial MT"/>
              <a:cs typeface="Arial MT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12856438" y="9272778"/>
            <a:ext cx="231775" cy="3530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50" spc="-125">
                <a:latin typeface="Arial MT"/>
                <a:cs typeface="Arial MT"/>
              </a:rPr>
              <a:t>-5</a:t>
            </a:r>
            <a:endParaRPr sz="2150">
              <a:latin typeface="Arial MT"/>
              <a:cs typeface="Arial MT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14483855" y="6648450"/>
            <a:ext cx="1870710" cy="3530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95070" algn="l"/>
              </a:tabLst>
            </a:pPr>
            <a:r>
              <a:rPr dirty="0" sz="2150" spc="-10">
                <a:latin typeface="Arial MT"/>
                <a:cs typeface="Arial MT"/>
              </a:rPr>
              <a:t>Diesel</a:t>
            </a:r>
            <a:r>
              <a:rPr dirty="0" sz="2150">
                <a:latin typeface="Arial MT"/>
                <a:cs typeface="Arial MT"/>
              </a:rPr>
              <a:t>	</a:t>
            </a:r>
            <a:r>
              <a:rPr dirty="0" sz="2150">
                <a:solidFill>
                  <a:srgbClr val="0049AC"/>
                </a:solidFill>
                <a:latin typeface="Arial MT"/>
                <a:cs typeface="Arial MT"/>
              </a:rPr>
              <a:t>@</a:t>
            </a:r>
            <a:r>
              <a:rPr dirty="0" sz="2150" spc="110">
                <a:solidFill>
                  <a:srgbClr val="0049AC"/>
                </a:solidFill>
                <a:latin typeface="Arial MT"/>
                <a:cs typeface="Arial MT"/>
              </a:rPr>
              <a:t> </a:t>
            </a:r>
            <a:r>
              <a:rPr dirty="0" sz="2150" spc="-335">
                <a:latin typeface="Arial MT"/>
                <a:cs typeface="Arial MT"/>
              </a:rPr>
              <a:t>EV</a:t>
            </a:r>
            <a:endParaRPr sz="2150">
              <a:latin typeface="Arial MT"/>
              <a:cs typeface="Arial MT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14189569" y="9219438"/>
            <a:ext cx="2431415" cy="781685"/>
          </a:xfrm>
          <a:prstGeom prst="rect">
            <a:avLst/>
          </a:prstGeom>
        </p:spPr>
        <p:txBody>
          <a:bodyPr wrap="square" lIns="0" tIns="62865" rIns="0" bIns="0" rtlCol="0" vert="horz">
            <a:spAutoFit/>
          </a:bodyPr>
          <a:lstStyle/>
          <a:p>
            <a:pPr marL="2132965">
              <a:lnSpc>
                <a:spcPct val="100000"/>
              </a:lnSpc>
              <a:spcBef>
                <a:spcPts val="495"/>
              </a:spcBef>
            </a:pPr>
            <a:r>
              <a:rPr dirty="0" sz="2150" spc="-50">
                <a:latin typeface="Arial MT"/>
                <a:cs typeface="Arial MT"/>
              </a:rPr>
              <a:t>10</a:t>
            </a:r>
            <a:endParaRPr sz="21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dirty="0" sz="2150" spc="-130">
                <a:latin typeface="Arial MT"/>
                <a:cs typeface="Arial MT"/>
              </a:rPr>
              <a:t>Cost</a:t>
            </a:r>
            <a:r>
              <a:rPr dirty="0" sz="2150" spc="5">
                <a:latin typeface="Arial MT"/>
                <a:cs typeface="Arial MT"/>
              </a:rPr>
              <a:t> </a:t>
            </a:r>
            <a:r>
              <a:rPr dirty="0" sz="2150" spc="-95">
                <a:latin typeface="Arial MT"/>
                <a:cs typeface="Arial MT"/>
              </a:rPr>
              <a:t>(in</a:t>
            </a:r>
            <a:r>
              <a:rPr dirty="0" sz="2150" spc="-65">
                <a:latin typeface="Arial MT"/>
                <a:cs typeface="Arial MT"/>
              </a:rPr>
              <a:t> </a:t>
            </a:r>
            <a:r>
              <a:rPr dirty="0" sz="2150" spc="-75">
                <a:latin typeface="Arial MT"/>
                <a:cs typeface="Arial MT"/>
              </a:rPr>
              <a:t>Lakhs/Year)</a:t>
            </a:r>
            <a:endParaRPr sz="2150">
              <a:latin typeface="Arial MT"/>
              <a:cs typeface="Arial MT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17477472" y="9269730"/>
            <a:ext cx="307975" cy="3530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50" spc="-70">
                <a:latin typeface="Arial MT"/>
                <a:cs typeface="Arial MT"/>
              </a:rPr>
              <a:t>15</a:t>
            </a:r>
            <a:endParaRPr sz="21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047"/>
            <a:ext cx="18288000" cy="1028395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94099" y="326643"/>
            <a:ext cx="6607175" cy="635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>
                <a:latin typeface="Arial MT"/>
                <a:cs typeface="Arial MT"/>
              </a:rPr>
              <a:t>CONCLUSION</a:t>
            </a:r>
            <a:r>
              <a:rPr dirty="0" sz="4000" spc="365">
                <a:latin typeface="Arial MT"/>
                <a:cs typeface="Arial MT"/>
              </a:rPr>
              <a:t> </a:t>
            </a:r>
            <a:r>
              <a:rPr dirty="0" sz="4000" spc="75">
                <a:latin typeface="Arial MT"/>
                <a:cs typeface="Arial MT"/>
              </a:rPr>
              <a:t>&amp;</a:t>
            </a:r>
            <a:r>
              <a:rPr dirty="0" sz="4000" spc="-75">
                <a:latin typeface="Arial MT"/>
                <a:cs typeface="Arial MT"/>
              </a:rPr>
              <a:t> </a:t>
            </a:r>
            <a:r>
              <a:rPr dirty="0" sz="4000" spc="-45">
                <a:latin typeface="Arial MT"/>
                <a:cs typeface="Arial MT"/>
              </a:rPr>
              <a:t>R</a:t>
            </a:r>
            <a:r>
              <a:rPr dirty="0" sz="4000" spc="-45">
                <a:latin typeface="Arial MT"/>
                <a:cs typeface="Arial MT"/>
              </a:rPr>
              <a:t>O</a:t>
            </a:r>
            <a:r>
              <a:rPr dirty="0" sz="4000" spc="-45">
                <a:latin typeface="Arial MT"/>
                <a:cs typeface="Arial MT"/>
              </a:rPr>
              <a:t>ADMAP</a:t>
            </a:r>
            <a:endParaRPr sz="40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519405" y="1701530"/>
            <a:ext cx="4239895" cy="2914015"/>
          </a:xfrm>
          <a:prstGeom prst="rect">
            <a:avLst/>
          </a:prstGeom>
        </p:spPr>
        <p:txBody>
          <a:bodyPr wrap="square" lIns="0" tIns="140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dirty="0" sz="2050">
                <a:solidFill>
                  <a:srgbClr val="0049AC"/>
                </a:solidFill>
                <a:latin typeface="Arial MT"/>
                <a:cs typeface="Arial MT"/>
              </a:rPr>
              <a:t>Brand</a:t>
            </a:r>
            <a:r>
              <a:rPr dirty="0" sz="2050" spc="-25">
                <a:solidFill>
                  <a:srgbClr val="0049AC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0049AC"/>
                </a:solidFill>
                <a:latin typeface="Arial MT"/>
                <a:cs typeface="Arial MT"/>
              </a:rPr>
              <a:t>Recall</a:t>
            </a:r>
            <a:r>
              <a:rPr dirty="0" sz="2050" spc="-114">
                <a:solidFill>
                  <a:srgbClr val="0049AC"/>
                </a:solidFill>
                <a:latin typeface="Arial MT"/>
                <a:cs typeface="Arial MT"/>
              </a:rPr>
              <a:t> </a:t>
            </a:r>
            <a:r>
              <a:rPr dirty="0" sz="2050" spc="50">
                <a:solidFill>
                  <a:srgbClr val="0049AC"/>
                </a:solidFill>
                <a:latin typeface="Arial MT"/>
                <a:cs typeface="Arial MT"/>
              </a:rPr>
              <a:t>and</a:t>
            </a:r>
            <a:r>
              <a:rPr dirty="0" sz="2050" spc="-50">
                <a:solidFill>
                  <a:srgbClr val="0049AC"/>
                </a:solidFill>
                <a:latin typeface="Arial MT"/>
                <a:cs typeface="Arial MT"/>
              </a:rPr>
              <a:t> </a:t>
            </a:r>
            <a:r>
              <a:rPr dirty="0" sz="2050" spc="75">
                <a:solidFill>
                  <a:srgbClr val="0049AC"/>
                </a:solidFill>
                <a:latin typeface="Arial MT"/>
                <a:cs typeface="Arial MT"/>
              </a:rPr>
              <a:t>Digital</a:t>
            </a:r>
            <a:r>
              <a:rPr dirty="0" sz="2050" spc="-185">
                <a:solidFill>
                  <a:srgbClr val="0049AC"/>
                </a:solidFill>
                <a:latin typeface="Arial MT"/>
                <a:cs typeface="Arial MT"/>
              </a:rPr>
              <a:t> </a:t>
            </a:r>
            <a:r>
              <a:rPr dirty="0" sz="2050" spc="-10">
                <a:solidFill>
                  <a:srgbClr val="0049AC"/>
                </a:solidFill>
                <a:latin typeface="Arial MT"/>
                <a:cs typeface="Arial MT"/>
              </a:rPr>
              <a:t>Ecosystem</a:t>
            </a:r>
            <a:endParaRPr sz="2050">
              <a:latin typeface="Arial MT"/>
              <a:cs typeface="Arial MT"/>
            </a:endParaRPr>
          </a:p>
          <a:p>
            <a:pPr marL="892810" marR="176530" indent="-205740">
              <a:lnSpc>
                <a:spcPct val="110900"/>
              </a:lnSpc>
              <a:spcBef>
                <a:spcPts val="635"/>
              </a:spcBef>
              <a:buChar char="•"/>
              <a:tabLst>
                <a:tab pos="892810" algn="l"/>
                <a:tab pos="899160" algn="l"/>
              </a:tabLst>
            </a:pPr>
            <a:r>
              <a:rPr dirty="0" sz="1750">
                <a:latin typeface="Arial MT"/>
                <a:cs typeface="Arial MT"/>
              </a:rPr>
              <a:t>	</a:t>
            </a:r>
            <a:r>
              <a:rPr dirty="0" sz="1750" spc="-10">
                <a:latin typeface="Arial MT"/>
                <a:cs typeface="Arial MT"/>
              </a:rPr>
              <a:t>Launch</a:t>
            </a:r>
            <a:r>
              <a:rPr dirty="0" sz="1750" spc="-70">
                <a:latin typeface="Arial MT"/>
                <a:cs typeface="Arial MT"/>
              </a:rPr>
              <a:t> </a:t>
            </a:r>
            <a:r>
              <a:rPr dirty="0" sz="1750" spc="-35">
                <a:latin typeface="Arial MT"/>
                <a:cs typeface="Arial MT"/>
              </a:rPr>
              <a:t>Healthcare</a:t>
            </a:r>
            <a:r>
              <a:rPr dirty="0" sz="1750" spc="-50">
                <a:latin typeface="Arial MT"/>
                <a:cs typeface="Arial MT"/>
              </a:rPr>
              <a:t> </a:t>
            </a:r>
            <a:r>
              <a:rPr dirty="0" sz="1750" spc="-35">
                <a:latin typeface="Arial MT"/>
                <a:cs typeface="Arial MT"/>
              </a:rPr>
              <a:t>SuperApp</a:t>
            </a:r>
            <a:r>
              <a:rPr dirty="0" sz="1750" spc="-85">
                <a:latin typeface="Arial MT"/>
                <a:cs typeface="Arial MT"/>
              </a:rPr>
              <a:t> </a:t>
            </a:r>
            <a:r>
              <a:rPr dirty="0" sz="1750" spc="-25">
                <a:latin typeface="Arial MT"/>
                <a:cs typeface="Arial MT"/>
              </a:rPr>
              <a:t>for </a:t>
            </a:r>
            <a:r>
              <a:rPr dirty="0" sz="1750">
                <a:latin typeface="Arial MT"/>
                <a:cs typeface="Arial MT"/>
              </a:rPr>
              <a:t>orgs</a:t>
            </a:r>
            <a:r>
              <a:rPr dirty="0" sz="1750" spc="-125">
                <a:latin typeface="Arial MT"/>
                <a:cs typeface="Arial MT"/>
              </a:rPr>
              <a:t> </a:t>
            </a:r>
            <a:r>
              <a:rPr dirty="0" sz="1750" spc="-135">
                <a:latin typeface="Arial MT"/>
                <a:cs typeface="Arial MT"/>
              </a:rPr>
              <a:t>(EMS</a:t>
            </a:r>
            <a:r>
              <a:rPr dirty="0" sz="1750" spc="15">
                <a:latin typeface="Arial MT"/>
                <a:cs typeface="Arial MT"/>
              </a:rPr>
              <a:t> </a:t>
            </a:r>
            <a:r>
              <a:rPr dirty="0" sz="1750" spc="-170">
                <a:latin typeface="Arial MT"/>
                <a:cs typeface="Arial MT"/>
              </a:rPr>
              <a:t>+</a:t>
            </a:r>
            <a:r>
              <a:rPr dirty="0" sz="1750" spc="-55">
                <a:latin typeface="Arial MT"/>
                <a:cs typeface="Arial MT"/>
              </a:rPr>
              <a:t> </a:t>
            </a:r>
            <a:r>
              <a:rPr dirty="0" sz="1750" spc="-25">
                <a:latin typeface="Arial MT"/>
                <a:cs typeface="Arial MT"/>
              </a:rPr>
              <a:t>paramedics</a:t>
            </a:r>
            <a:r>
              <a:rPr dirty="0" sz="1750" spc="-30">
                <a:latin typeface="Arial MT"/>
                <a:cs typeface="Arial MT"/>
              </a:rPr>
              <a:t> </a:t>
            </a:r>
            <a:r>
              <a:rPr dirty="0" sz="1750" spc="-50">
                <a:latin typeface="Arial MT"/>
                <a:cs typeface="Arial MT"/>
              </a:rPr>
              <a:t>+ </a:t>
            </a:r>
            <a:r>
              <a:rPr dirty="0" sz="1750" spc="-10">
                <a:latin typeface="Arial MT"/>
                <a:cs typeface="Arial MT"/>
              </a:rPr>
              <a:t>homecare)</a:t>
            </a:r>
            <a:endParaRPr sz="1750">
              <a:latin typeface="Arial MT"/>
              <a:cs typeface="Arial MT"/>
            </a:endParaRPr>
          </a:p>
          <a:p>
            <a:pPr marL="897890" indent="-210820">
              <a:lnSpc>
                <a:spcPct val="100000"/>
              </a:lnSpc>
              <a:spcBef>
                <a:spcPts val="180"/>
              </a:spcBef>
              <a:buChar char="•"/>
              <a:tabLst>
                <a:tab pos="897890" algn="l"/>
              </a:tabLst>
            </a:pPr>
            <a:r>
              <a:rPr dirty="0" sz="1800" spc="-80">
                <a:latin typeface="Arial MT"/>
                <a:cs typeface="Arial MT"/>
              </a:rPr>
              <a:t>Promote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 spc="-30">
                <a:latin typeface="Arial MT"/>
                <a:cs typeface="Arial MT"/>
              </a:rPr>
              <a:t>tech</a:t>
            </a:r>
            <a:r>
              <a:rPr dirty="0" sz="1800" spc="-9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edge</a:t>
            </a:r>
            <a:r>
              <a:rPr dirty="0" sz="1800" spc="-60">
                <a:latin typeface="Arial MT"/>
                <a:cs typeface="Arial MT"/>
              </a:rPr>
              <a:t> </a:t>
            </a:r>
            <a:r>
              <a:rPr dirty="0" sz="1800" spc="-80">
                <a:latin typeface="Arial MT"/>
                <a:cs typeface="Arial MT"/>
              </a:rPr>
              <a:t>(Al</a:t>
            </a:r>
            <a:r>
              <a:rPr dirty="0" sz="1800" spc="-10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dispatch,</a:t>
            </a:r>
            <a:endParaRPr sz="1800">
              <a:latin typeface="Arial MT"/>
              <a:cs typeface="Arial MT"/>
            </a:endParaRPr>
          </a:p>
          <a:p>
            <a:pPr marL="897255">
              <a:lnSpc>
                <a:spcPct val="100000"/>
              </a:lnSpc>
              <a:spcBef>
                <a:spcPts val="215"/>
              </a:spcBef>
            </a:pPr>
            <a:r>
              <a:rPr dirty="0" sz="1750" spc="-114">
                <a:latin typeface="Arial MT"/>
                <a:cs typeface="Arial MT"/>
              </a:rPr>
              <a:t>5G</a:t>
            </a:r>
            <a:r>
              <a:rPr dirty="0" sz="1750" spc="-80">
                <a:latin typeface="Arial MT"/>
                <a:cs typeface="Arial MT"/>
              </a:rPr>
              <a:t> </a:t>
            </a:r>
            <a:r>
              <a:rPr dirty="0" sz="1750" spc="-40">
                <a:latin typeface="Arial MT"/>
                <a:cs typeface="Arial MT"/>
              </a:rPr>
              <a:t>ambulances,</a:t>
            </a:r>
            <a:r>
              <a:rPr dirty="0" sz="1750" spc="-5">
                <a:latin typeface="Arial MT"/>
                <a:cs typeface="Arial MT"/>
              </a:rPr>
              <a:t> </a:t>
            </a:r>
            <a:r>
              <a:rPr dirty="0" sz="1750" spc="-10">
                <a:latin typeface="Arial MT"/>
                <a:cs typeface="Arial MT"/>
              </a:rPr>
              <a:t>tracking)</a:t>
            </a:r>
            <a:endParaRPr sz="1750">
              <a:latin typeface="Arial MT"/>
              <a:cs typeface="Arial MT"/>
            </a:endParaRPr>
          </a:p>
          <a:p>
            <a:pPr marL="892810" marR="706755" indent="-206375">
              <a:lnSpc>
                <a:spcPct val="107800"/>
              </a:lnSpc>
              <a:spcBef>
                <a:spcPts val="10"/>
              </a:spcBef>
              <a:buChar char="•"/>
              <a:tabLst>
                <a:tab pos="892810" algn="l"/>
                <a:tab pos="895985" algn="l"/>
              </a:tabLst>
            </a:pPr>
            <a:r>
              <a:rPr dirty="0" sz="1800">
                <a:latin typeface="Arial MT"/>
                <a:cs typeface="Arial MT"/>
              </a:rPr>
              <a:t>	</a:t>
            </a:r>
            <a:r>
              <a:rPr dirty="0" sz="1800" spc="-45">
                <a:latin typeface="Arial MT"/>
                <a:cs typeface="Arial MT"/>
              </a:rPr>
              <a:t>Strengthen</a:t>
            </a:r>
            <a:r>
              <a:rPr dirty="0" sz="1800" spc="70">
                <a:latin typeface="Arial MT"/>
                <a:cs typeface="Arial MT"/>
              </a:rPr>
              <a:t> </a:t>
            </a:r>
            <a:r>
              <a:rPr dirty="0" sz="1800" spc="-30">
                <a:latin typeface="Arial MT"/>
                <a:cs typeface="Arial MT"/>
              </a:rPr>
              <a:t>influencer-</a:t>
            </a:r>
            <a:r>
              <a:rPr dirty="0" sz="1800" spc="-25">
                <a:latin typeface="Arial MT"/>
                <a:cs typeface="Arial MT"/>
              </a:rPr>
              <a:t>led </a:t>
            </a:r>
            <a:r>
              <a:rPr dirty="0" sz="1800">
                <a:latin typeface="Arial MT"/>
                <a:cs typeface="Arial MT"/>
              </a:rPr>
              <a:t>branding</a:t>
            </a:r>
            <a:r>
              <a:rPr dirty="0" sz="1800" spc="-70">
                <a:latin typeface="Arial MT"/>
                <a:cs typeface="Arial MT"/>
              </a:rPr>
              <a:t> </a:t>
            </a:r>
            <a:r>
              <a:rPr dirty="0" sz="1800" spc="-165">
                <a:latin typeface="Arial MT"/>
                <a:cs typeface="Arial MT"/>
              </a:rPr>
              <a:t>&amp;</a:t>
            </a:r>
            <a:r>
              <a:rPr dirty="0" sz="1800" spc="-125">
                <a:latin typeface="Arial MT"/>
                <a:cs typeface="Arial MT"/>
              </a:rPr>
              <a:t> </a:t>
            </a:r>
            <a:r>
              <a:rPr dirty="0" sz="1800" spc="-75">
                <a:latin typeface="Arial MT"/>
                <a:cs typeface="Arial MT"/>
              </a:rPr>
              <a:t>real-</a:t>
            </a:r>
            <a:r>
              <a:rPr dirty="0" sz="1800" spc="-40">
                <a:latin typeface="Arial MT"/>
                <a:cs typeface="Arial MT"/>
              </a:rPr>
              <a:t>life</a:t>
            </a:r>
            <a:r>
              <a:rPr dirty="0" sz="1800" spc="-70">
                <a:latin typeface="Arial MT"/>
                <a:cs typeface="Arial MT"/>
              </a:rPr>
              <a:t> success </a:t>
            </a:r>
            <a:r>
              <a:rPr dirty="0" sz="1800" spc="-10">
                <a:latin typeface="Arial MT"/>
                <a:cs typeface="Arial MT"/>
              </a:rPr>
              <a:t>stories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43358" y="5772658"/>
            <a:ext cx="3049270" cy="371982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26440" marR="513080" indent="-538480">
              <a:lnSpc>
                <a:spcPct val="113199"/>
              </a:lnSpc>
              <a:spcBef>
                <a:spcPts val="100"/>
              </a:spcBef>
            </a:pPr>
            <a:r>
              <a:rPr dirty="0" sz="2050" spc="50">
                <a:solidFill>
                  <a:srgbClr val="0049AC"/>
                </a:solidFill>
                <a:latin typeface="Arial MT"/>
                <a:cs typeface="Arial MT"/>
              </a:rPr>
              <a:t>Monetization</a:t>
            </a:r>
            <a:r>
              <a:rPr dirty="0" sz="2050">
                <a:solidFill>
                  <a:srgbClr val="0049AC"/>
                </a:solidFill>
                <a:latin typeface="Arial MT"/>
                <a:cs typeface="Arial MT"/>
              </a:rPr>
              <a:t> </a:t>
            </a:r>
            <a:r>
              <a:rPr dirty="0" sz="2050" spc="65">
                <a:solidFill>
                  <a:srgbClr val="0049AC"/>
                </a:solidFill>
                <a:latin typeface="Arial MT"/>
                <a:cs typeface="Arial MT"/>
              </a:rPr>
              <a:t>6</a:t>
            </a:r>
            <a:r>
              <a:rPr dirty="0" sz="2050" spc="-30">
                <a:solidFill>
                  <a:srgbClr val="0049AC"/>
                </a:solidFill>
                <a:latin typeface="Arial MT"/>
                <a:cs typeface="Arial MT"/>
              </a:rPr>
              <a:t> </a:t>
            </a:r>
            <a:r>
              <a:rPr dirty="0" sz="2050" spc="-25">
                <a:solidFill>
                  <a:srgbClr val="0049AC"/>
                </a:solidFill>
                <a:latin typeface="Arial MT"/>
                <a:cs typeface="Arial MT"/>
              </a:rPr>
              <a:t>B2B </a:t>
            </a:r>
            <a:r>
              <a:rPr dirty="0" sz="2050" spc="-10">
                <a:solidFill>
                  <a:srgbClr val="0049AC"/>
                </a:solidFill>
                <a:latin typeface="Arial MT"/>
                <a:cs typeface="Arial MT"/>
              </a:rPr>
              <a:t>Expansion</a:t>
            </a:r>
            <a:endParaRPr sz="2050">
              <a:latin typeface="Arial MT"/>
              <a:cs typeface="Arial MT"/>
            </a:endParaRPr>
          </a:p>
          <a:p>
            <a:pPr marL="227965" indent="-215265">
              <a:lnSpc>
                <a:spcPct val="100000"/>
              </a:lnSpc>
              <a:spcBef>
                <a:spcPts val="260"/>
              </a:spcBef>
              <a:buChar char="•"/>
              <a:tabLst>
                <a:tab pos="227965" algn="l"/>
              </a:tabLst>
            </a:pPr>
            <a:r>
              <a:rPr dirty="0" sz="1750" spc="-25">
                <a:latin typeface="Arial MT"/>
                <a:cs typeface="Arial MT"/>
              </a:rPr>
              <a:t>Launch</a:t>
            </a:r>
            <a:r>
              <a:rPr dirty="0" sz="1750" spc="-100">
                <a:latin typeface="Arial MT"/>
                <a:cs typeface="Arial MT"/>
              </a:rPr>
              <a:t> </a:t>
            </a:r>
            <a:r>
              <a:rPr dirty="0" sz="1750" spc="-10">
                <a:latin typeface="Arial MT"/>
                <a:cs typeface="Arial MT"/>
              </a:rPr>
              <a:t>subscription</a:t>
            </a:r>
            <a:r>
              <a:rPr dirty="0" sz="1750" spc="55">
                <a:latin typeface="Arial MT"/>
                <a:cs typeface="Arial MT"/>
              </a:rPr>
              <a:t> </a:t>
            </a:r>
            <a:r>
              <a:rPr dirty="0" sz="1750" spc="-135">
                <a:latin typeface="Arial MT"/>
                <a:cs typeface="Arial MT"/>
              </a:rPr>
              <a:t>&amp;</a:t>
            </a:r>
            <a:r>
              <a:rPr dirty="0" sz="1750" spc="-80">
                <a:latin typeface="Arial MT"/>
                <a:cs typeface="Arial MT"/>
              </a:rPr>
              <a:t> </a:t>
            </a:r>
            <a:r>
              <a:rPr dirty="0" sz="1750" spc="-25">
                <a:latin typeface="Arial MT"/>
                <a:cs typeface="Arial MT"/>
              </a:rPr>
              <a:t>EMS</a:t>
            </a:r>
            <a:endParaRPr sz="1750">
              <a:latin typeface="Arial MT"/>
              <a:cs typeface="Arial MT"/>
            </a:endParaRPr>
          </a:p>
          <a:p>
            <a:pPr marL="223520">
              <a:lnSpc>
                <a:spcPct val="100000"/>
              </a:lnSpc>
              <a:spcBef>
                <a:spcPts val="229"/>
              </a:spcBef>
            </a:pPr>
            <a:r>
              <a:rPr dirty="0" sz="1800" spc="-25">
                <a:latin typeface="Arial MT"/>
                <a:cs typeface="Arial MT"/>
              </a:rPr>
              <a:t>loyalty</a:t>
            </a:r>
            <a:r>
              <a:rPr dirty="0" sz="1800" spc="-8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plans</a:t>
            </a:r>
            <a:endParaRPr sz="1800">
              <a:latin typeface="Arial MT"/>
              <a:cs typeface="Arial MT"/>
            </a:endParaRPr>
          </a:p>
          <a:p>
            <a:pPr marL="227965" indent="-215265">
              <a:lnSpc>
                <a:spcPct val="100000"/>
              </a:lnSpc>
              <a:spcBef>
                <a:spcPts val="215"/>
              </a:spcBef>
              <a:buChar char="•"/>
              <a:tabLst>
                <a:tab pos="227965" algn="l"/>
              </a:tabLst>
            </a:pPr>
            <a:r>
              <a:rPr dirty="0" sz="1750" spc="-20">
                <a:latin typeface="Arial MT"/>
                <a:cs typeface="Arial MT"/>
              </a:rPr>
              <a:t>Begin</a:t>
            </a:r>
            <a:r>
              <a:rPr dirty="0" sz="1750" spc="20">
                <a:latin typeface="Arial MT"/>
                <a:cs typeface="Arial MT"/>
              </a:rPr>
              <a:t> </a:t>
            </a:r>
            <a:r>
              <a:rPr dirty="0" sz="1750" spc="-100">
                <a:latin typeface="Arial MT"/>
                <a:cs typeface="Arial MT"/>
              </a:rPr>
              <a:t>B2B</a:t>
            </a:r>
            <a:r>
              <a:rPr dirty="0" sz="1750" spc="-90">
                <a:latin typeface="Arial MT"/>
                <a:cs typeface="Arial MT"/>
              </a:rPr>
              <a:t> </a:t>
            </a:r>
            <a:r>
              <a:rPr dirty="0" sz="1750" spc="-30">
                <a:latin typeface="Arial MT"/>
                <a:cs typeface="Arial MT"/>
              </a:rPr>
              <a:t>tie-</a:t>
            </a:r>
            <a:r>
              <a:rPr dirty="0" sz="1750" spc="-35">
                <a:latin typeface="Arial MT"/>
                <a:cs typeface="Arial MT"/>
              </a:rPr>
              <a:t>ups</a:t>
            </a:r>
            <a:r>
              <a:rPr dirty="0" sz="1750" spc="-60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with</a:t>
            </a:r>
            <a:r>
              <a:rPr dirty="0" sz="1750" spc="-35">
                <a:latin typeface="Arial MT"/>
                <a:cs typeface="Arial MT"/>
              </a:rPr>
              <a:t> </a:t>
            </a:r>
            <a:r>
              <a:rPr dirty="0" sz="1750" spc="-125">
                <a:latin typeface="Arial MT"/>
                <a:cs typeface="Arial MT"/>
              </a:rPr>
              <a:t>RWAs,</a:t>
            </a:r>
            <a:endParaRPr sz="1750">
              <a:latin typeface="Arial MT"/>
              <a:cs typeface="Arial MT"/>
            </a:endParaRPr>
          </a:p>
          <a:p>
            <a:pPr marL="219710">
              <a:lnSpc>
                <a:spcPct val="100000"/>
              </a:lnSpc>
              <a:spcBef>
                <a:spcPts val="204"/>
              </a:spcBef>
            </a:pPr>
            <a:r>
              <a:rPr dirty="0" sz="1800" spc="-10">
                <a:latin typeface="Arial MT"/>
                <a:cs typeface="Arial MT"/>
              </a:rPr>
              <a:t>corporates</a:t>
            </a:r>
            <a:endParaRPr sz="1800">
              <a:latin typeface="Arial MT"/>
              <a:cs typeface="Arial MT"/>
            </a:endParaRPr>
          </a:p>
          <a:p>
            <a:pPr marL="221615" marR="427355" indent="-209550">
              <a:lnSpc>
                <a:spcPts val="2380"/>
              </a:lnSpc>
              <a:spcBef>
                <a:spcPts val="60"/>
              </a:spcBef>
              <a:buChar char="•"/>
              <a:tabLst>
                <a:tab pos="221615" algn="l"/>
                <a:tab pos="226060" algn="l"/>
              </a:tabLst>
            </a:pPr>
            <a:r>
              <a:rPr dirty="0" sz="1750">
                <a:latin typeface="Arial MT"/>
                <a:cs typeface="Arial MT"/>
              </a:rPr>
              <a:t>	</a:t>
            </a:r>
            <a:r>
              <a:rPr dirty="0" sz="1750" spc="-50">
                <a:latin typeface="Arial MT"/>
                <a:cs typeface="Arial MT"/>
              </a:rPr>
              <a:t>Expand</a:t>
            </a:r>
            <a:r>
              <a:rPr dirty="0" sz="1750" spc="-70">
                <a:latin typeface="Arial MT"/>
                <a:cs typeface="Arial MT"/>
              </a:rPr>
              <a:t> </a:t>
            </a:r>
            <a:r>
              <a:rPr dirty="0" sz="1750" spc="-25">
                <a:latin typeface="Arial MT"/>
                <a:cs typeface="Arial MT"/>
              </a:rPr>
              <a:t>home</a:t>
            </a:r>
            <a:r>
              <a:rPr dirty="0" sz="1750" spc="-95">
                <a:latin typeface="Arial MT"/>
                <a:cs typeface="Arial MT"/>
              </a:rPr>
              <a:t> </a:t>
            </a:r>
            <a:r>
              <a:rPr dirty="0" sz="1750" spc="-25">
                <a:latin typeface="Arial MT"/>
                <a:cs typeface="Arial MT"/>
              </a:rPr>
              <a:t>healthcare </a:t>
            </a:r>
            <a:r>
              <a:rPr dirty="0" sz="1750" spc="-10">
                <a:latin typeface="Arial MT"/>
                <a:cs typeface="Arial MT"/>
              </a:rPr>
              <a:t>services</a:t>
            </a:r>
            <a:endParaRPr sz="1750">
              <a:latin typeface="Arial MT"/>
              <a:cs typeface="Arial MT"/>
            </a:endParaRPr>
          </a:p>
          <a:p>
            <a:pPr marL="222885" indent="-210185">
              <a:lnSpc>
                <a:spcPct val="100000"/>
              </a:lnSpc>
              <a:spcBef>
                <a:spcPts val="25"/>
              </a:spcBef>
              <a:buChar char="•"/>
              <a:tabLst>
                <a:tab pos="222885" algn="l"/>
              </a:tabLst>
            </a:pPr>
            <a:r>
              <a:rPr dirty="0" sz="1800" spc="-30">
                <a:latin typeface="Arial MT"/>
                <a:cs typeface="Arial MT"/>
              </a:rPr>
              <a:t>Initiate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2-</a:t>
            </a:r>
            <a:r>
              <a:rPr dirty="0" sz="1800" spc="50">
                <a:latin typeface="Arial MT"/>
                <a:cs typeface="Arial MT"/>
              </a:rPr>
              <a:t>3</a:t>
            </a:r>
            <a:r>
              <a:rPr dirty="0" sz="1800" spc="-12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insurance</a:t>
            </a:r>
            <a:endParaRPr sz="1800">
              <a:latin typeface="Arial MT"/>
              <a:cs typeface="Arial MT"/>
            </a:endParaRPr>
          </a:p>
          <a:p>
            <a:pPr marL="223520">
              <a:lnSpc>
                <a:spcPct val="100000"/>
              </a:lnSpc>
              <a:spcBef>
                <a:spcPts val="265"/>
              </a:spcBef>
            </a:pPr>
            <a:r>
              <a:rPr dirty="0" sz="1750" spc="-10">
                <a:latin typeface="Arial MT"/>
                <a:cs typeface="Arial MT"/>
              </a:rPr>
              <a:t>partnerships</a:t>
            </a:r>
            <a:endParaRPr sz="1750">
              <a:latin typeface="Arial MT"/>
              <a:cs typeface="Arial MT"/>
            </a:endParaRPr>
          </a:p>
          <a:p>
            <a:pPr marL="221615" marR="33655" indent="-209550">
              <a:lnSpc>
                <a:spcPct val="108900"/>
              </a:lnSpc>
              <a:spcBef>
                <a:spcPts val="10"/>
              </a:spcBef>
              <a:buChar char="•"/>
              <a:tabLst>
                <a:tab pos="221615" algn="l"/>
                <a:tab pos="226060" algn="l"/>
              </a:tabLst>
            </a:pPr>
            <a:r>
              <a:rPr dirty="0" sz="1800">
                <a:latin typeface="Arial MT"/>
                <a:cs typeface="Arial MT"/>
              </a:rPr>
              <a:t>	</a:t>
            </a:r>
            <a:r>
              <a:rPr dirty="0" sz="1800" spc="-55">
                <a:latin typeface="Arial MT"/>
                <a:cs typeface="Arial MT"/>
              </a:rPr>
              <a:t>Position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 spc="-30">
                <a:latin typeface="Arial MT"/>
                <a:cs typeface="Arial MT"/>
              </a:rPr>
              <a:t>brand</a:t>
            </a:r>
            <a:r>
              <a:rPr dirty="0" sz="1800" spc="-80">
                <a:latin typeface="Arial MT"/>
                <a:cs typeface="Arial MT"/>
              </a:rPr>
              <a:t> </a:t>
            </a:r>
            <a:r>
              <a:rPr dirty="0" sz="1800" spc="-65">
                <a:latin typeface="Arial MT"/>
                <a:cs typeface="Arial MT"/>
              </a:rPr>
              <a:t>via</a:t>
            </a:r>
            <a:r>
              <a:rPr dirty="0" sz="1800" spc="-9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emotional </a:t>
            </a:r>
            <a:r>
              <a:rPr dirty="0" sz="1800" spc="-25">
                <a:latin typeface="Arial MT"/>
                <a:cs typeface="Arial MT"/>
              </a:rPr>
              <a:t>storytelling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 spc="-165">
                <a:latin typeface="Arial MT"/>
                <a:cs typeface="Arial MT"/>
              </a:rPr>
              <a:t>&amp;</a:t>
            </a:r>
            <a:r>
              <a:rPr dirty="0" sz="1800" spc="-135">
                <a:latin typeface="Arial MT"/>
                <a:cs typeface="Arial MT"/>
              </a:rPr>
              <a:t> </a:t>
            </a:r>
            <a:r>
              <a:rPr dirty="0" sz="1800" spc="-30">
                <a:latin typeface="Arial MT"/>
                <a:cs typeface="Arial MT"/>
              </a:rPr>
              <a:t>tech</a:t>
            </a:r>
            <a:r>
              <a:rPr dirty="0" sz="1800" spc="-100">
                <a:latin typeface="Arial MT"/>
                <a:cs typeface="Arial MT"/>
              </a:rPr>
              <a:t> </a:t>
            </a:r>
            <a:r>
              <a:rPr dirty="0" sz="1800" spc="-25">
                <a:latin typeface="Arial MT"/>
                <a:cs typeface="Arial MT"/>
              </a:rPr>
              <a:t>innovation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400393" y="5673228"/>
            <a:ext cx="2705735" cy="3351529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90"/>
              </a:spcBef>
            </a:pPr>
            <a:r>
              <a:rPr dirty="0" sz="2050" spc="60">
                <a:solidFill>
                  <a:srgbClr val="0049AC"/>
                </a:solidFill>
                <a:latin typeface="Arial MT"/>
                <a:cs typeface="Arial MT"/>
              </a:rPr>
              <a:t>Infrastructure</a:t>
            </a:r>
            <a:r>
              <a:rPr dirty="0" sz="2050" spc="-215">
                <a:solidFill>
                  <a:srgbClr val="0049AC"/>
                </a:solidFill>
                <a:latin typeface="Arial MT"/>
                <a:cs typeface="Arial MT"/>
              </a:rPr>
              <a:t> </a:t>
            </a:r>
            <a:r>
              <a:rPr dirty="0" sz="2050" spc="50">
                <a:solidFill>
                  <a:srgbClr val="0049AC"/>
                </a:solidFill>
                <a:latin typeface="Arial MT"/>
                <a:cs typeface="Arial MT"/>
              </a:rPr>
              <a:t>and</a:t>
            </a:r>
            <a:r>
              <a:rPr dirty="0" sz="2050" spc="-80">
                <a:solidFill>
                  <a:srgbClr val="0049AC"/>
                </a:solidFill>
                <a:latin typeface="Arial MT"/>
                <a:cs typeface="Arial MT"/>
              </a:rPr>
              <a:t> </a:t>
            </a:r>
            <a:r>
              <a:rPr dirty="0" sz="2050" spc="-25">
                <a:solidFill>
                  <a:srgbClr val="0049AC"/>
                </a:solidFill>
                <a:latin typeface="Arial MT"/>
                <a:cs typeface="Arial MT"/>
              </a:rPr>
              <a:t>Pan</a:t>
            </a:r>
            <a:endParaRPr sz="2050">
              <a:latin typeface="Arial MT"/>
              <a:cs typeface="Arial MT"/>
            </a:endParaRPr>
          </a:p>
          <a:p>
            <a:pPr algn="ctr" marR="5715">
              <a:lnSpc>
                <a:spcPts val="2440"/>
              </a:lnSpc>
              <a:spcBef>
                <a:spcPts val="295"/>
              </a:spcBef>
            </a:pPr>
            <a:r>
              <a:rPr dirty="0" sz="2100">
                <a:solidFill>
                  <a:srgbClr val="0049AC"/>
                </a:solidFill>
                <a:latin typeface="Arial MT"/>
                <a:cs typeface="Arial MT"/>
              </a:rPr>
              <a:t>India</a:t>
            </a:r>
            <a:r>
              <a:rPr dirty="0" sz="2100" spc="20">
                <a:solidFill>
                  <a:srgbClr val="0049AC"/>
                </a:solidFill>
                <a:latin typeface="Arial MT"/>
                <a:cs typeface="Arial MT"/>
              </a:rPr>
              <a:t> </a:t>
            </a:r>
            <a:r>
              <a:rPr dirty="0" sz="2100" spc="-10">
                <a:solidFill>
                  <a:srgbClr val="0049AC"/>
                </a:solidFill>
                <a:latin typeface="Arial MT"/>
                <a:cs typeface="Arial MT"/>
              </a:rPr>
              <a:t>Coverage</a:t>
            </a:r>
            <a:endParaRPr sz="2100">
              <a:latin typeface="Arial MT"/>
              <a:cs typeface="Arial MT"/>
            </a:endParaRPr>
          </a:p>
          <a:p>
            <a:pPr algn="r" marL="210185" marR="525780" indent="-210185">
              <a:lnSpc>
                <a:spcPts val="2080"/>
              </a:lnSpc>
              <a:buChar char="•"/>
              <a:tabLst>
                <a:tab pos="210185" algn="l"/>
              </a:tabLst>
            </a:pPr>
            <a:r>
              <a:rPr dirty="0" sz="1800" spc="-65">
                <a:latin typeface="Arial MT"/>
                <a:cs typeface="Arial MT"/>
              </a:rPr>
              <a:t>Invest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</a:t>
            </a:r>
            <a:r>
              <a:rPr dirty="0" sz="1800" spc="-13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medical-</a:t>
            </a:r>
            <a:endParaRPr sz="1800">
              <a:latin typeface="Arial MT"/>
              <a:cs typeface="Arial MT"/>
            </a:endParaRPr>
          </a:p>
          <a:p>
            <a:pPr algn="r" marR="498475">
              <a:lnSpc>
                <a:spcPct val="100000"/>
              </a:lnSpc>
              <a:spcBef>
                <a:spcPts val="195"/>
              </a:spcBef>
            </a:pPr>
            <a:r>
              <a:rPr dirty="0" sz="1800" spc="-35">
                <a:latin typeface="Arial MT"/>
                <a:cs typeface="Arial MT"/>
              </a:rPr>
              <a:t>grade</a:t>
            </a:r>
            <a:r>
              <a:rPr dirty="0" sz="1800" spc="-8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ambulance</a:t>
            </a:r>
            <a:endParaRPr sz="1800">
              <a:latin typeface="Arial MT"/>
              <a:cs typeface="Arial MT"/>
            </a:endParaRPr>
          </a:p>
          <a:p>
            <a:pPr marL="509905">
              <a:lnSpc>
                <a:spcPct val="100000"/>
              </a:lnSpc>
              <a:spcBef>
                <a:spcPts val="215"/>
              </a:spcBef>
            </a:pPr>
            <a:r>
              <a:rPr dirty="0" sz="1750" spc="-25">
                <a:latin typeface="Arial MT"/>
                <a:cs typeface="Arial MT"/>
              </a:rPr>
              <a:t>fleets</a:t>
            </a:r>
            <a:r>
              <a:rPr dirty="0" sz="1750" spc="-70">
                <a:latin typeface="Arial MT"/>
                <a:cs typeface="Arial MT"/>
              </a:rPr>
              <a:t> </a:t>
            </a:r>
            <a:r>
              <a:rPr dirty="0" sz="1750" spc="-110">
                <a:latin typeface="Arial MT"/>
                <a:cs typeface="Arial MT"/>
              </a:rPr>
              <a:t>(ALS,</a:t>
            </a:r>
            <a:r>
              <a:rPr dirty="0" sz="1750" spc="-10">
                <a:latin typeface="Arial MT"/>
                <a:cs typeface="Arial MT"/>
              </a:rPr>
              <a:t> </a:t>
            </a:r>
            <a:r>
              <a:rPr dirty="0" sz="1750" spc="-20">
                <a:latin typeface="Arial MT"/>
                <a:cs typeface="Arial MT"/>
              </a:rPr>
              <a:t>BLS)</a:t>
            </a:r>
            <a:endParaRPr sz="1750">
              <a:latin typeface="Arial MT"/>
              <a:cs typeface="Arial MT"/>
            </a:endParaRPr>
          </a:p>
          <a:p>
            <a:pPr marL="508634" marR="65405" indent="-210185">
              <a:lnSpc>
                <a:spcPct val="107800"/>
              </a:lnSpc>
              <a:spcBef>
                <a:spcPts val="10"/>
              </a:spcBef>
              <a:buChar char="•"/>
              <a:tabLst>
                <a:tab pos="508634" algn="l"/>
                <a:tab pos="512445" algn="l"/>
              </a:tabLst>
            </a:pPr>
            <a:r>
              <a:rPr dirty="0" sz="1800">
                <a:latin typeface="Arial MT"/>
                <a:cs typeface="Arial MT"/>
              </a:rPr>
              <a:t>	</a:t>
            </a:r>
            <a:r>
              <a:rPr dirty="0" sz="1800" spc="-80">
                <a:latin typeface="Arial MT"/>
                <a:cs typeface="Arial MT"/>
              </a:rPr>
              <a:t>Expand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to</a:t>
            </a:r>
            <a:r>
              <a:rPr dirty="0" sz="1800" spc="-95">
                <a:latin typeface="Arial MT"/>
                <a:cs typeface="Arial MT"/>
              </a:rPr>
              <a:t> </a:t>
            </a:r>
            <a:r>
              <a:rPr dirty="0" sz="1800" spc="-80">
                <a:latin typeface="Arial MT"/>
                <a:cs typeface="Arial MT"/>
              </a:rPr>
              <a:t>50+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cities </a:t>
            </a:r>
            <a:r>
              <a:rPr dirty="0" sz="1800">
                <a:latin typeface="Arial MT"/>
                <a:cs typeface="Arial MT"/>
              </a:rPr>
              <a:t>with</a:t>
            </a:r>
            <a:r>
              <a:rPr dirty="0" sz="1800" spc="-50">
                <a:latin typeface="Arial MT"/>
                <a:cs typeface="Arial MT"/>
              </a:rPr>
              <a:t> </a:t>
            </a:r>
            <a:r>
              <a:rPr dirty="0" sz="1800" spc="-55">
                <a:latin typeface="Arial MT"/>
                <a:cs typeface="Arial MT"/>
              </a:rPr>
              <a:t>zonal</a:t>
            </a:r>
            <a:r>
              <a:rPr dirty="0" sz="1800" spc="-135">
                <a:latin typeface="Arial MT"/>
                <a:cs typeface="Arial MT"/>
              </a:rPr>
              <a:t> </a:t>
            </a:r>
            <a:r>
              <a:rPr dirty="0" sz="1800" spc="-30">
                <a:latin typeface="Arial MT"/>
                <a:cs typeface="Arial MT"/>
              </a:rPr>
              <a:t>operational </a:t>
            </a:r>
            <a:r>
              <a:rPr dirty="0" sz="1800" spc="-20">
                <a:latin typeface="Arial MT"/>
                <a:cs typeface="Arial MT"/>
              </a:rPr>
              <a:t>hubs</a:t>
            </a:r>
            <a:endParaRPr sz="1800">
              <a:latin typeface="Arial MT"/>
              <a:cs typeface="Arial MT"/>
            </a:endParaRPr>
          </a:p>
          <a:p>
            <a:pPr marL="509905" indent="-210820">
              <a:lnSpc>
                <a:spcPct val="100000"/>
              </a:lnSpc>
              <a:spcBef>
                <a:spcPts val="170"/>
              </a:spcBef>
              <a:buChar char="•"/>
              <a:tabLst>
                <a:tab pos="509905" algn="l"/>
              </a:tabLst>
            </a:pPr>
            <a:r>
              <a:rPr dirty="0" sz="1750" spc="-30">
                <a:latin typeface="Arial MT"/>
                <a:cs typeface="Arial MT"/>
              </a:rPr>
              <a:t>Integrate</a:t>
            </a:r>
            <a:r>
              <a:rPr dirty="0" sz="1750" spc="-45">
                <a:latin typeface="Arial MT"/>
                <a:cs typeface="Arial MT"/>
              </a:rPr>
              <a:t> </a:t>
            </a:r>
            <a:r>
              <a:rPr dirty="0" sz="1750" spc="-20">
                <a:latin typeface="Arial MT"/>
                <a:cs typeface="Arial MT"/>
              </a:rPr>
              <a:t>with</a:t>
            </a:r>
            <a:endParaRPr sz="1750">
              <a:latin typeface="Arial MT"/>
              <a:cs typeface="Arial MT"/>
            </a:endParaRPr>
          </a:p>
          <a:p>
            <a:pPr marL="515620">
              <a:lnSpc>
                <a:spcPct val="100000"/>
              </a:lnSpc>
              <a:spcBef>
                <a:spcPts val="305"/>
              </a:spcBef>
            </a:pPr>
            <a:r>
              <a:rPr dirty="0" sz="1700" spc="-10">
                <a:latin typeface="Arial MT"/>
                <a:cs typeface="Arial MT"/>
              </a:rPr>
              <a:t>Ayushman</a:t>
            </a:r>
            <a:r>
              <a:rPr dirty="0" sz="1700" spc="-75">
                <a:latin typeface="Arial MT"/>
                <a:cs typeface="Arial MT"/>
              </a:rPr>
              <a:t> </a:t>
            </a:r>
            <a:r>
              <a:rPr dirty="0" sz="1700" spc="-30">
                <a:latin typeface="Arial MT"/>
                <a:cs typeface="Arial MT"/>
              </a:rPr>
              <a:t>Bharat</a:t>
            </a:r>
            <a:r>
              <a:rPr dirty="0" sz="1700" spc="-70">
                <a:latin typeface="Arial MT"/>
                <a:cs typeface="Arial MT"/>
              </a:rPr>
              <a:t> </a:t>
            </a:r>
            <a:r>
              <a:rPr dirty="0" sz="1700" spc="-50">
                <a:latin typeface="Arial MT"/>
                <a:cs typeface="Arial MT"/>
              </a:rPr>
              <a:t>&amp;</a:t>
            </a:r>
            <a:endParaRPr sz="1700">
              <a:latin typeface="Arial MT"/>
              <a:cs typeface="Arial MT"/>
            </a:endParaRPr>
          </a:p>
          <a:p>
            <a:pPr marL="508634">
              <a:lnSpc>
                <a:spcPct val="100000"/>
              </a:lnSpc>
              <a:spcBef>
                <a:spcPts val="235"/>
              </a:spcBef>
            </a:pPr>
            <a:r>
              <a:rPr dirty="0" sz="1750" spc="-50">
                <a:latin typeface="Arial MT"/>
                <a:cs typeface="Arial MT"/>
              </a:rPr>
              <a:t>state</a:t>
            </a:r>
            <a:r>
              <a:rPr dirty="0" sz="1750" spc="-25">
                <a:latin typeface="Arial MT"/>
                <a:cs typeface="Arial MT"/>
              </a:rPr>
              <a:t> </a:t>
            </a:r>
            <a:r>
              <a:rPr dirty="0" sz="1750" spc="-150">
                <a:latin typeface="Arial MT"/>
                <a:cs typeface="Arial MT"/>
              </a:rPr>
              <a:t>EMS</a:t>
            </a:r>
            <a:r>
              <a:rPr dirty="0" sz="1750" spc="-45">
                <a:latin typeface="Arial MT"/>
                <a:cs typeface="Arial MT"/>
              </a:rPr>
              <a:t> </a:t>
            </a:r>
            <a:r>
              <a:rPr dirty="0" sz="1750" spc="-10">
                <a:latin typeface="Arial MT"/>
                <a:cs typeface="Arial MT"/>
              </a:rPr>
              <a:t>programs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289822" y="1222112"/>
            <a:ext cx="2769235" cy="1590040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marL="193040">
              <a:lnSpc>
                <a:spcPct val="100000"/>
              </a:lnSpc>
              <a:spcBef>
                <a:spcPts val="395"/>
              </a:spcBef>
            </a:pPr>
            <a:r>
              <a:rPr dirty="0" sz="2100" spc="-20">
                <a:solidFill>
                  <a:srgbClr val="0049AC"/>
                </a:solidFill>
                <a:latin typeface="Arial MT"/>
                <a:cs typeface="Arial MT"/>
              </a:rPr>
              <a:t>Deep</a:t>
            </a:r>
            <a:r>
              <a:rPr dirty="0" sz="2100" spc="-65">
                <a:solidFill>
                  <a:srgbClr val="0049AC"/>
                </a:solidFill>
                <a:latin typeface="Arial MT"/>
                <a:cs typeface="Arial MT"/>
              </a:rPr>
              <a:t> </a:t>
            </a:r>
            <a:r>
              <a:rPr dirty="0" sz="2100" spc="-30">
                <a:solidFill>
                  <a:srgbClr val="0049AC"/>
                </a:solidFill>
                <a:latin typeface="Arial MT"/>
                <a:cs typeface="Arial MT"/>
              </a:rPr>
              <a:t>Tech</a:t>
            </a:r>
            <a:r>
              <a:rPr dirty="0" sz="2100" spc="-70">
                <a:solidFill>
                  <a:srgbClr val="0049AC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0049AC"/>
                </a:solidFill>
                <a:latin typeface="Arial MT"/>
                <a:cs typeface="Arial MT"/>
              </a:rPr>
              <a:t>and</a:t>
            </a:r>
            <a:r>
              <a:rPr dirty="0" sz="2100" spc="-90">
                <a:solidFill>
                  <a:srgbClr val="0049AC"/>
                </a:solidFill>
                <a:latin typeface="Arial MT"/>
                <a:cs typeface="Arial MT"/>
              </a:rPr>
              <a:t> </a:t>
            </a:r>
            <a:r>
              <a:rPr dirty="0" sz="2100" spc="-25">
                <a:solidFill>
                  <a:srgbClr val="0049AC"/>
                </a:solidFill>
                <a:latin typeface="Arial MT"/>
                <a:cs typeface="Arial MT"/>
              </a:rPr>
              <a:t>AI</a:t>
            </a:r>
            <a:endParaRPr sz="2100">
              <a:latin typeface="Arial MT"/>
              <a:cs typeface="Arial MT"/>
            </a:endParaRPr>
          </a:p>
          <a:p>
            <a:pPr marL="459740">
              <a:lnSpc>
                <a:spcPts val="2425"/>
              </a:lnSpc>
              <a:spcBef>
                <a:spcPts val="290"/>
              </a:spcBef>
            </a:pPr>
            <a:r>
              <a:rPr dirty="0" sz="2050" spc="40">
                <a:solidFill>
                  <a:srgbClr val="0049AC"/>
                </a:solidFill>
                <a:latin typeface="Arial MT"/>
                <a:cs typeface="Arial MT"/>
              </a:rPr>
              <a:t>Optimization</a:t>
            </a:r>
            <a:endParaRPr sz="2050">
              <a:latin typeface="Arial MT"/>
              <a:cs typeface="Arial MT"/>
            </a:endParaRPr>
          </a:p>
          <a:p>
            <a:pPr marL="226060" indent="-213360">
              <a:lnSpc>
                <a:spcPts val="2125"/>
              </a:lnSpc>
              <a:buChar char="•"/>
              <a:tabLst>
                <a:tab pos="226060" algn="l"/>
              </a:tabLst>
            </a:pPr>
            <a:r>
              <a:rPr dirty="0" sz="1800" spc="-225">
                <a:latin typeface="Arial MT"/>
                <a:cs typeface="Arial MT"/>
              </a:rPr>
              <a:t>A</a:t>
            </a:r>
            <a:r>
              <a:rPr dirty="0" sz="1800" spc="-80">
                <a:latin typeface="Arial MT"/>
                <a:cs typeface="Arial MT"/>
              </a:rPr>
              <a:t> </a:t>
            </a:r>
            <a:r>
              <a:rPr dirty="0" sz="1800" spc="-85">
                <a:latin typeface="Arial MT"/>
                <a:cs typeface="Arial MT"/>
              </a:rPr>
              <a:t>smart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chatbot</a:t>
            </a:r>
            <a:r>
              <a:rPr dirty="0" sz="1800" spc="-75">
                <a:latin typeface="Arial MT"/>
                <a:cs typeface="Arial MT"/>
              </a:rPr>
              <a:t> </a:t>
            </a:r>
            <a:r>
              <a:rPr dirty="0" sz="1800" spc="-30">
                <a:latin typeface="Arial MT"/>
                <a:cs typeface="Arial MT"/>
              </a:rPr>
              <a:t>integrated</a:t>
            </a:r>
            <a:endParaRPr sz="1800">
              <a:latin typeface="Arial MT"/>
              <a:cs typeface="Arial MT"/>
            </a:endParaRPr>
          </a:p>
          <a:p>
            <a:pPr marL="216535">
              <a:lnSpc>
                <a:spcPct val="100000"/>
              </a:lnSpc>
              <a:spcBef>
                <a:spcPts val="170"/>
              </a:spcBef>
            </a:pPr>
            <a:r>
              <a:rPr dirty="0" sz="1800">
                <a:latin typeface="Arial MT"/>
                <a:cs typeface="Arial MT"/>
              </a:rPr>
              <a:t>into</a:t>
            </a:r>
            <a:r>
              <a:rPr dirty="0" sz="1800" spc="-125">
                <a:latin typeface="Arial MT"/>
                <a:cs typeface="Arial MT"/>
              </a:rPr>
              <a:t> </a:t>
            </a:r>
            <a:r>
              <a:rPr dirty="0" sz="1800" spc="-20">
                <a:latin typeface="Arial MT"/>
                <a:cs typeface="Arial MT"/>
              </a:rPr>
              <a:t>the</a:t>
            </a:r>
            <a:r>
              <a:rPr dirty="0" sz="1800" spc="-105">
                <a:latin typeface="Arial MT"/>
                <a:cs typeface="Arial MT"/>
              </a:rPr>
              <a:t> </a:t>
            </a:r>
            <a:r>
              <a:rPr dirty="0" sz="1800" spc="-55">
                <a:latin typeface="Arial MT"/>
                <a:cs typeface="Arial MT"/>
              </a:rPr>
              <a:t>SuperApp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 spc="-25">
                <a:latin typeface="Arial MT"/>
                <a:cs typeface="Arial MT"/>
              </a:rPr>
              <a:t>and</a:t>
            </a:r>
            <a:endParaRPr sz="1800">
              <a:latin typeface="Arial MT"/>
              <a:cs typeface="Arial MT"/>
            </a:endParaRPr>
          </a:p>
          <a:p>
            <a:pPr marL="219075">
              <a:lnSpc>
                <a:spcPct val="100000"/>
              </a:lnSpc>
              <a:spcBef>
                <a:spcPts val="114"/>
              </a:spcBef>
            </a:pPr>
            <a:r>
              <a:rPr dirty="0" sz="1850" spc="-10">
                <a:latin typeface="Arial MT"/>
                <a:cs typeface="Arial MT"/>
              </a:rPr>
              <a:t>website</a:t>
            </a:r>
            <a:endParaRPr sz="185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9290160" y="2777997"/>
            <a:ext cx="2752090" cy="18040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18440" marR="5080" indent="-206375">
              <a:lnSpc>
                <a:spcPct val="110200"/>
              </a:lnSpc>
              <a:spcBef>
                <a:spcPts val="135"/>
              </a:spcBef>
              <a:buChar char="•"/>
              <a:tabLst>
                <a:tab pos="218440" algn="l"/>
                <a:tab pos="265430" algn="l"/>
              </a:tabLst>
            </a:pPr>
            <a:r>
              <a:rPr dirty="0" sz="1750">
                <a:latin typeface="Arial MT"/>
                <a:cs typeface="Arial MT"/>
              </a:rPr>
              <a:t>	</a:t>
            </a:r>
            <a:r>
              <a:rPr dirty="0" sz="1750" spc="-25">
                <a:latin typeface="Arial MT"/>
                <a:cs typeface="Arial MT"/>
              </a:rPr>
              <a:t>Integrate</a:t>
            </a:r>
            <a:r>
              <a:rPr dirty="0" sz="1750" spc="-70">
                <a:latin typeface="Arial MT"/>
                <a:cs typeface="Arial MT"/>
              </a:rPr>
              <a:t> </a:t>
            </a:r>
            <a:r>
              <a:rPr dirty="0" sz="1750" spc="-20">
                <a:latin typeface="Arial MT"/>
                <a:cs typeface="Arial MT"/>
              </a:rPr>
              <a:t>with </a:t>
            </a:r>
            <a:r>
              <a:rPr dirty="0" sz="1750" spc="-30">
                <a:latin typeface="Arial MT"/>
                <a:cs typeface="Arial MT"/>
              </a:rPr>
              <a:t>smartwatches</a:t>
            </a:r>
            <a:r>
              <a:rPr dirty="0" sz="1750" spc="-25">
                <a:latin typeface="Arial MT"/>
                <a:cs typeface="Arial MT"/>
              </a:rPr>
              <a:t> </a:t>
            </a:r>
            <a:r>
              <a:rPr dirty="0" sz="1750" spc="-20">
                <a:latin typeface="Arial MT"/>
                <a:cs typeface="Arial MT"/>
              </a:rPr>
              <a:t>for</a:t>
            </a:r>
            <a:r>
              <a:rPr dirty="0" sz="1750" spc="-85">
                <a:latin typeface="Arial MT"/>
                <a:cs typeface="Arial MT"/>
              </a:rPr>
              <a:t> </a:t>
            </a:r>
            <a:r>
              <a:rPr dirty="0" sz="1750" spc="-55">
                <a:latin typeface="Arial MT"/>
                <a:cs typeface="Arial MT"/>
              </a:rPr>
              <a:t>real-</a:t>
            </a:r>
            <a:r>
              <a:rPr dirty="0" sz="1750" spc="-20">
                <a:latin typeface="Arial MT"/>
                <a:cs typeface="Arial MT"/>
              </a:rPr>
              <a:t>time </a:t>
            </a:r>
            <a:r>
              <a:rPr dirty="0" sz="1800" spc="-30">
                <a:latin typeface="Arial MT"/>
                <a:cs typeface="Arial MT"/>
              </a:rPr>
              <a:t>health</a:t>
            </a:r>
            <a:r>
              <a:rPr dirty="0" sz="1800" spc="-9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monitoring</a:t>
            </a:r>
            <a:endParaRPr sz="1800">
              <a:latin typeface="Arial MT"/>
              <a:cs typeface="Arial MT"/>
            </a:endParaRPr>
          </a:p>
          <a:p>
            <a:pPr marL="220345" marR="179705" indent="-208279">
              <a:lnSpc>
                <a:spcPct val="108100"/>
              </a:lnSpc>
              <a:spcBef>
                <a:spcPts val="25"/>
              </a:spcBef>
              <a:buChar char="•"/>
              <a:tabLst>
                <a:tab pos="220345" algn="l"/>
                <a:tab pos="268605" algn="l"/>
              </a:tabLst>
            </a:pPr>
            <a:r>
              <a:rPr dirty="0" sz="1750">
                <a:latin typeface="Arial MT"/>
                <a:cs typeface="Arial MT"/>
              </a:rPr>
              <a:t>	</a:t>
            </a:r>
            <a:r>
              <a:rPr dirty="0" sz="1750" spc="-120">
                <a:latin typeface="Arial MT"/>
                <a:cs typeface="Arial MT"/>
              </a:rPr>
              <a:t>Uses</a:t>
            </a:r>
            <a:r>
              <a:rPr dirty="0" sz="1750" spc="10">
                <a:latin typeface="Arial MT"/>
                <a:cs typeface="Arial MT"/>
              </a:rPr>
              <a:t> </a:t>
            </a:r>
            <a:r>
              <a:rPr dirty="0" sz="1750" spc="-100">
                <a:latin typeface="Arial MT"/>
                <a:cs typeface="Arial MT"/>
              </a:rPr>
              <a:t>NLP</a:t>
            </a:r>
            <a:r>
              <a:rPr dirty="0" sz="1750" spc="-75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to</a:t>
            </a:r>
            <a:r>
              <a:rPr dirty="0" sz="1750" spc="-85">
                <a:latin typeface="Arial MT"/>
                <a:cs typeface="Arial MT"/>
              </a:rPr>
              <a:t> </a:t>
            </a:r>
            <a:r>
              <a:rPr dirty="0" sz="1750" spc="-10">
                <a:latin typeface="Arial MT"/>
                <a:cs typeface="Arial MT"/>
              </a:rPr>
              <a:t>analyze </a:t>
            </a:r>
            <a:r>
              <a:rPr dirty="0" sz="1800" spc="-20">
                <a:latin typeface="Arial MT"/>
                <a:cs typeface="Arial MT"/>
              </a:rPr>
              <a:t>feedbacVsentiment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 spc="-45">
                <a:latin typeface="Arial MT"/>
                <a:cs typeface="Arial MT"/>
              </a:rPr>
              <a:t>and </a:t>
            </a:r>
            <a:r>
              <a:rPr dirty="0" sz="1800" spc="-40">
                <a:latin typeface="Arial MT"/>
                <a:cs typeface="Arial MT"/>
              </a:rPr>
              <a:t>flags</a:t>
            </a:r>
            <a:r>
              <a:rPr dirty="0" sz="1800" spc="-105">
                <a:latin typeface="Arial MT"/>
                <a:cs typeface="Arial MT"/>
              </a:rPr>
              <a:t> </a:t>
            </a:r>
            <a:r>
              <a:rPr dirty="0" sz="1800" spc="-65">
                <a:latin typeface="Arial MT"/>
                <a:cs typeface="Arial MT"/>
              </a:rPr>
              <a:t>service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 spc="-20">
                <a:latin typeface="Arial MT"/>
                <a:cs typeface="Arial MT"/>
              </a:rPr>
              <a:t>gaps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5082316" y="1536700"/>
            <a:ext cx="3151505" cy="2898775"/>
          </a:xfrm>
          <a:prstGeom prst="rect">
            <a:avLst/>
          </a:prstGeom>
        </p:spPr>
        <p:txBody>
          <a:bodyPr wrap="square" lIns="0" tIns="635" rIns="0" bIns="0" rtlCol="0" vert="horz">
            <a:spAutoFit/>
          </a:bodyPr>
          <a:lstStyle/>
          <a:p>
            <a:pPr marL="12700" marR="242570" indent="528320">
              <a:lnSpc>
                <a:spcPct val="103600"/>
              </a:lnSpc>
              <a:spcBef>
                <a:spcPts val="5"/>
              </a:spcBef>
            </a:pPr>
            <a:r>
              <a:rPr dirty="0" sz="2200">
                <a:solidFill>
                  <a:srgbClr val="0049AC"/>
                </a:solidFill>
                <a:latin typeface="Arial MT"/>
                <a:cs typeface="Arial MT"/>
              </a:rPr>
              <a:t>Sustainability</a:t>
            </a:r>
            <a:r>
              <a:rPr dirty="0" sz="2200" spc="-240">
                <a:solidFill>
                  <a:srgbClr val="0049AC"/>
                </a:solidFill>
                <a:latin typeface="Arial MT"/>
                <a:cs typeface="Arial MT"/>
              </a:rPr>
              <a:t> </a:t>
            </a:r>
            <a:r>
              <a:rPr dirty="0" sz="2200" spc="-50">
                <a:solidFill>
                  <a:srgbClr val="0049AC"/>
                </a:solidFill>
                <a:latin typeface="Arial MT"/>
                <a:cs typeface="Arial MT"/>
              </a:rPr>
              <a:t>6 </a:t>
            </a:r>
            <a:r>
              <a:rPr dirty="0" sz="2200" spc="-25">
                <a:solidFill>
                  <a:srgbClr val="0049AC"/>
                </a:solidFill>
                <a:latin typeface="Arial MT"/>
                <a:cs typeface="Arial MT"/>
              </a:rPr>
              <a:t>Competitive</a:t>
            </a:r>
            <a:r>
              <a:rPr dirty="0" sz="2200" spc="-60">
                <a:solidFill>
                  <a:srgbClr val="0049AC"/>
                </a:solidFill>
                <a:latin typeface="Arial MT"/>
                <a:cs typeface="Arial MT"/>
              </a:rPr>
              <a:t> </a:t>
            </a:r>
            <a:r>
              <a:rPr dirty="0" sz="2200" spc="-45">
                <a:solidFill>
                  <a:srgbClr val="0049AC"/>
                </a:solidFill>
                <a:latin typeface="Arial MT"/>
                <a:cs typeface="Arial MT"/>
              </a:rPr>
              <a:t>Dominance</a:t>
            </a:r>
            <a:endParaRPr sz="2200">
              <a:latin typeface="Arial MT"/>
              <a:cs typeface="Arial MT"/>
            </a:endParaRPr>
          </a:p>
          <a:p>
            <a:pPr marL="257175" indent="-212090">
              <a:lnSpc>
                <a:spcPct val="100000"/>
              </a:lnSpc>
              <a:spcBef>
                <a:spcPts val="1190"/>
              </a:spcBef>
              <a:buChar char="•"/>
              <a:tabLst>
                <a:tab pos="257175" algn="l"/>
              </a:tabLst>
            </a:pPr>
            <a:r>
              <a:rPr dirty="0" sz="1750" spc="-95">
                <a:latin typeface="Arial MT"/>
                <a:cs typeface="Arial MT"/>
              </a:rPr>
              <a:t>Set</a:t>
            </a:r>
            <a:r>
              <a:rPr dirty="0" sz="1750" spc="-30">
                <a:latin typeface="Arial MT"/>
                <a:cs typeface="Arial MT"/>
              </a:rPr>
              <a:t> </a:t>
            </a:r>
            <a:r>
              <a:rPr dirty="0" sz="1750" spc="-10">
                <a:latin typeface="Arial MT"/>
                <a:cs typeface="Arial MT"/>
              </a:rPr>
              <a:t>benchmark</a:t>
            </a:r>
            <a:r>
              <a:rPr dirty="0" sz="1750" spc="-85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for</a:t>
            </a:r>
            <a:r>
              <a:rPr dirty="0" sz="1750" spc="-100">
                <a:latin typeface="Arial MT"/>
                <a:cs typeface="Arial MT"/>
              </a:rPr>
              <a:t> </a:t>
            </a:r>
            <a:r>
              <a:rPr dirty="0" sz="1750" spc="-25">
                <a:latin typeface="Arial MT"/>
                <a:cs typeface="Arial MT"/>
              </a:rPr>
              <a:t>EMS</a:t>
            </a:r>
            <a:endParaRPr sz="1750">
              <a:latin typeface="Arial MT"/>
              <a:cs typeface="Arial MT"/>
            </a:endParaRPr>
          </a:p>
          <a:p>
            <a:pPr marL="252729">
              <a:lnSpc>
                <a:spcPct val="100000"/>
              </a:lnSpc>
              <a:spcBef>
                <a:spcPts val="180"/>
              </a:spcBef>
            </a:pPr>
            <a:r>
              <a:rPr dirty="0" sz="1800" spc="-20">
                <a:latin typeface="Arial MT"/>
                <a:cs typeface="Arial MT"/>
              </a:rPr>
              <a:t>efficiency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 spc="-165">
                <a:latin typeface="Arial MT"/>
                <a:cs typeface="Arial MT"/>
              </a:rPr>
              <a:t>&amp;</a:t>
            </a:r>
            <a:r>
              <a:rPr dirty="0" sz="1800" spc="-114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outcomes</a:t>
            </a:r>
            <a:endParaRPr sz="1800">
              <a:latin typeface="Arial MT"/>
              <a:cs typeface="Arial MT"/>
            </a:endParaRPr>
          </a:p>
          <a:p>
            <a:pPr marL="255904" marR="5080" indent="-208279">
              <a:lnSpc>
                <a:spcPts val="2330"/>
              </a:lnSpc>
              <a:spcBef>
                <a:spcPts val="105"/>
              </a:spcBef>
              <a:buChar char="•"/>
              <a:tabLst>
                <a:tab pos="255904" algn="l"/>
                <a:tab pos="257175" algn="l"/>
              </a:tabLst>
            </a:pPr>
            <a:r>
              <a:rPr dirty="0" sz="1750">
                <a:latin typeface="Arial MT"/>
                <a:cs typeface="Arial MT"/>
              </a:rPr>
              <a:t>	</a:t>
            </a:r>
            <a:r>
              <a:rPr dirty="0" sz="1750" spc="-35">
                <a:latin typeface="Arial MT"/>
                <a:cs typeface="Arial MT"/>
              </a:rPr>
              <a:t>Strong</a:t>
            </a:r>
            <a:r>
              <a:rPr dirty="0" sz="1750" spc="-75">
                <a:latin typeface="Arial MT"/>
                <a:cs typeface="Arial MT"/>
              </a:rPr>
              <a:t> </a:t>
            </a:r>
            <a:r>
              <a:rPr dirty="0" sz="1750" spc="-120">
                <a:latin typeface="Arial MT"/>
                <a:cs typeface="Arial MT"/>
              </a:rPr>
              <a:t>CSR-</a:t>
            </a:r>
            <a:r>
              <a:rPr dirty="0" sz="1750" spc="-45">
                <a:latin typeface="Arial MT"/>
                <a:cs typeface="Arial MT"/>
              </a:rPr>
              <a:t>led</a:t>
            </a:r>
            <a:r>
              <a:rPr dirty="0" sz="1750" spc="-40">
                <a:latin typeface="Arial MT"/>
                <a:cs typeface="Arial MT"/>
              </a:rPr>
              <a:t> </a:t>
            </a:r>
            <a:r>
              <a:rPr dirty="0" sz="1750" spc="-20">
                <a:latin typeface="Arial MT"/>
                <a:cs typeface="Arial MT"/>
              </a:rPr>
              <a:t>campaigns</a:t>
            </a:r>
            <a:r>
              <a:rPr dirty="0" sz="1750" spc="-45">
                <a:latin typeface="Arial MT"/>
                <a:cs typeface="Arial MT"/>
              </a:rPr>
              <a:t> </a:t>
            </a:r>
            <a:r>
              <a:rPr dirty="0" sz="1750" spc="-25">
                <a:latin typeface="Arial MT"/>
                <a:cs typeface="Arial MT"/>
              </a:rPr>
              <a:t>for </a:t>
            </a:r>
            <a:r>
              <a:rPr dirty="0" sz="1750" spc="-10">
                <a:latin typeface="Arial MT"/>
                <a:cs typeface="Arial MT"/>
              </a:rPr>
              <a:t>awareness</a:t>
            </a:r>
            <a:endParaRPr sz="1750">
              <a:latin typeface="Arial MT"/>
              <a:cs typeface="Arial MT"/>
            </a:endParaRPr>
          </a:p>
          <a:p>
            <a:pPr marL="252729" marR="27305" indent="-205104">
              <a:lnSpc>
                <a:spcPts val="2300"/>
              </a:lnSpc>
              <a:spcBef>
                <a:spcPts val="20"/>
              </a:spcBef>
              <a:buChar char="•"/>
              <a:tabLst>
                <a:tab pos="404495" algn="l"/>
              </a:tabLst>
            </a:pPr>
            <a:r>
              <a:rPr dirty="0" sz="1800" spc="-85">
                <a:latin typeface="Arial MT"/>
                <a:cs typeface="Arial MT"/>
              </a:rPr>
              <a:t>Create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 spc="-150">
                <a:latin typeface="Arial MT"/>
                <a:cs typeface="Arial MT"/>
              </a:rPr>
              <a:t>a</a:t>
            </a:r>
            <a:r>
              <a:rPr dirty="0" sz="1800" spc="-55">
                <a:latin typeface="Arial MT"/>
                <a:cs typeface="Arial MT"/>
              </a:rPr>
              <a:t> </a:t>
            </a:r>
            <a:r>
              <a:rPr dirty="0" sz="1800" spc="-35">
                <a:latin typeface="Arial MT"/>
                <a:cs typeface="Arial MT"/>
              </a:rPr>
              <a:t>Medulance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110">
                <a:latin typeface="Arial MT"/>
                <a:cs typeface="Arial MT"/>
              </a:rPr>
              <a:t>Research </a:t>
            </a:r>
            <a:r>
              <a:rPr dirty="0" sz="1800" spc="-110">
                <a:latin typeface="Arial MT"/>
                <a:cs typeface="Arial MT"/>
              </a:rPr>
              <a:t>	</a:t>
            </a:r>
            <a:r>
              <a:rPr dirty="0" sz="1800" spc="-30">
                <a:latin typeface="Arial MT"/>
                <a:cs typeface="Arial MT"/>
              </a:rPr>
              <a:t>ivision</a:t>
            </a:r>
            <a:r>
              <a:rPr dirty="0" sz="1800" spc="-9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to</a:t>
            </a:r>
            <a:r>
              <a:rPr dirty="0" sz="1800" spc="-14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publish </a:t>
            </a:r>
            <a:r>
              <a:rPr dirty="0" sz="1800" spc="-195">
                <a:latin typeface="Arial MT"/>
                <a:cs typeface="Arial MT"/>
              </a:rPr>
              <a:t>EMS</a:t>
            </a:r>
            <a:r>
              <a:rPr dirty="0" sz="1800" spc="-75">
                <a:latin typeface="Arial MT"/>
                <a:cs typeface="Arial MT"/>
              </a:rPr>
              <a:t> </a:t>
            </a:r>
            <a:r>
              <a:rPr dirty="0" sz="1800" spc="-20">
                <a:latin typeface="Arial MT"/>
                <a:cs typeface="Arial MT"/>
              </a:rPr>
              <a:t>data</a:t>
            </a:r>
            <a:endParaRPr sz="1800">
              <a:latin typeface="Arial MT"/>
              <a:cs typeface="Arial MT"/>
            </a:endParaRPr>
          </a:p>
          <a:p>
            <a:pPr marL="254000">
              <a:lnSpc>
                <a:spcPct val="100000"/>
              </a:lnSpc>
              <a:spcBef>
                <a:spcPts val="70"/>
              </a:spcBef>
            </a:pPr>
            <a:r>
              <a:rPr dirty="0" sz="1800" spc="-25">
                <a:latin typeface="Arial MT"/>
                <a:cs typeface="Arial MT"/>
              </a:rPr>
              <a:t>tech</a:t>
            </a:r>
            <a:r>
              <a:rPr dirty="0" sz="1800" spc="-60">
                <a:latin typeface="Arial MT"/>
                <a:cs typeface="Arial MT"/>
              </a:rPr>
              <a:t> </a:t>
            </a:r>
            <a:r>
              <a:rPr dirty="0" sz="1800" spc="-100">
                <a:latin typeface="Arial MT"/>
                <a:cs typeface="Arial MT"/>
              </a:rPr>
              <a:t>use </a:t>
            </a:r>
            <a:r>
              <a:rPr dirty="0" sz="1800" spc="-10">
                <a:latin typeface="Arial MT"/>
                <a:cs typeface="Arial MT"/>
              </a:rPr>
              <a:t>cases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2490567" y="5729992"/>
            <a:ext cx="2914650" cy="4112260"/>
          </a:xfrm>
          <a:prstGeom prst="rect">
            <a:avLst/>
          </a:prstGeom>
        </p:spPr>
        <p:txBody>
          <a:bodyPr wrap="square" lIns="0" tIns="3429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70"/>
              </a:spcBef>
            </a:pPr>
            <a:r>
              <a:rPr dirty="0" sz="2200" spc="-45">
                <a:solidFill>
                  <a:srgbClr val="0049AC"/>
                </a:solidFill>
                <a:latin typeface="Arial MT"/>
                <a:cs typeface="Arial MT"/>
              </a:rPr>
              <a:t>Global</a:t>
            </a:r>
            <a:r>
              <a:rPr dirty="0" sz="2200" spc="-204">
                <a:solidFill>
                  <a:srgbClr val="0049AC"/>
                </a:solidFill>
                <a:latin typeface="Arial MT"/>
                <a:cs typeface="Arial MT"/>
              </a:rPr>
              <a:t> </a:t>
            </a:r>
            <a:r>
              <a:rPr dirty="0" sz="2200" spc="-65">
                <a:solidFill>
                  <a:srgbClr val="0049AC"/>
                </a:solidFill>
                <a:latin typeface="Arial MT"/>
                <a:cs typeface="Arial MT"/>
              </a:rPr>
              <a:t>Standards</a:t>
            </a:r>
            <a:r>
              <a:rPr dirty="0" sz="2200" spc="-70">
                <a:solidFill>
                  <a:srgbClr val="0049AC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0049AC"/>
                </a:solidFill>
                <a:latin typeface="Arial MT"/>
                <a:cs typeface="Arial MT"/>
              </a:rPr>
              <a:t>6</a:t>
            </a:r>
            <a:r>
              <a:rPr dirty="0" sz="2200" spc="-45">
                <a:solidFill>
                  <a:srgbClr val="0049AC"/>
                </a:solidFill>
                <a:latin typeface="Arial MT"/>
                <a:cs typeface="Arial MT"/>
              </a:rPr>
              <a:t> </a:t>
            </a:r>
            <a:r>
              <a:rPr dirty="0" sz="2200" spc="-25">
                <a:solidFill>
                  <a:srgbClr val="0049AC"/>
                </a:solidFill>
                <a:latin typeface="Arial MT"/>
                <a:cs typeface="Arial MT"/>
              </a:rPr>
              <a:t>New</a:t>
            </a:r>
            <a:endParaRPr sz="2200">
              <a:latin typeface="Arial MT"/>
              <a:cs typeface="Arial MT"/>
            </a:endParaRPr>
          </a:p>
          <a:p>
            <a:pPr algn="ctr" marR="1905">
              <a:lnSpc>
                <a:spcPct val="100000"/>
              </a:lnSpc>
              <a:spcBef>
                <a:spcPts val="170"/>
              </a:spcBef>
            </a:pPr>
            <a:r>
              <a:rPr dirty="0" sz="2150" spc="-80">
                <a:solidFill>
                  <a:srgbClr val="0049AC"/>
                </a:solidFill>
                <a:latin typeface="Arial MT"/>
                <a:cs typeface="Arial MT"/>
              </a:rPr>
              <a:t>Revenue</a:t>
            </a:r>
            <a:r>
              <a:rPr dirty="0" sz="2150" spc="-40">
                <a:solidFill>
                  <a:srgbClr val="0049AC"/>
                </a:solidFill>
                <a:latin typeface="Arial MT"/>
                <a:cs typeface="Arial MT"/>
              </a:rPr>
              <a:t> </a:t>
            </a:r>
            <a:r>
              <a:rPr dirty="0" sz="2150" spc="-10">
                <a:solidFill>
                  <a:srgbClr val="0049AC"/>
                </a:solidFill>
                <a:latin typeface="Arial MT"/>
                <a:cs typeface="Arial MT"/>
              </a:rPr>
              <a:t>Channels</a:t>
            </a:r>
            <a:endParaRPr sz="2150">
              <a:latin typeface="Arial MT"/>
              <a:cs typeface="Arial MT"/>
            </a:endParaRPr>
          </a:p>
          <a:p>
            <a:pPr marL="385445" indent="-203200">
              <a:lnSpc>
                <a:spcPct val="100000"/>
              </a:lnSpc>
              <a:spcBef>
                <a:spcPts val="1130"/>
              </a:spcBef>
              <a:buChar char="•"/>
              <a:tabLst>
                <a:tab pos="385445" algn="l"/>
              </a:tabLst>
            </a:pPr>
            <a:r>
              <a:rPr dirty="0" sz="1850" spc="-120">
                <a:latin typeface="Arial MT"/>
                <a:cs typeface="Arial MT"/>
              </a:rPr>
              <a:t>Gain</a:t>
            </a:r>
            <a:r>
              <a:rPr dirty="0" sz="1850" spc="-15">
                <a:latin typeface="Arial MT"/>
                <a:cs typeface="Arial MT"/>
              </a:rPr>
              <a:t> </a:t>
            </a:r>
            <a:r>
              <a:rPr dirty="0" sz="1850" spc="-50">
                <a:latin typeface="Arial MT"/>
                <a:cs typeface="Arial MT"/>
              </a:rPr>
              <a:t>NABH/ISO</a:t>
            </a:r>
            <a:endParaRPr sz="1850">
              <a:latin typeface="Arial MT"/>
              <a:cs typeface="Arial MT"/>
            </a:endParaRPr>
          </a:p>
          <a:p>
            <a:pPr marL="390525">
              <a:lnSpc>
                <a:spcPct val="100000"/>
              </a:lnSpc>
              <a:spcBef>
                <a:spcPts val="60"/>
              </a:spcBef>
            </a:pPr>
            <a:r>
              <a:rPr dirty="0" sz="1900" spc="-90">
                <a:latin typeface="Arial MT"/>
                <a:cs typeface="Arial MT"/>
              </a:rPr>
              <a:t>accreditation</a:t>
            </a:r>
            <a:r>
              <a:rPr dirty="0" sz="1900" spc="65">
                <a:latin typeface="Arial MT"/>
                <a:cs typeface="Arial MT"/>
              </a:rPr>
              <a:t> </a:t>
            </a:r>
            <a:r>
              <a:rPr dirty="0" sz="1900" spc="-95">
                <a:latin typeface="Arial MT"/>
                <a:cs typeface="Arial MT"/>
              </a:rPr>
              <a:t>for</a:t>
            </a:r>
            <a:r>
              <a:rPr dirty="0" sz="1900" spc="-50">
                <a:latin typeface="Arial MT"/>
                <a:cs typeface="Arial MT"/>
              </a:rPr>
              <a:t> </a:t>
            </a:r>
            <a:r>
              <a:rPr dirty="0" sz="1900" spc="-280">
                <a:latin typeface="Arial MT"/>
                <a:cs typeface="Arial MT"/>
              </a:rPr>
              <a:t>EMS</a:t>
            </a:r>
            <a:endParaRPr sz="1900">
              <a:latin typeface="Arial MT"/>
              <a:cs typeface="Arial MT"/>
            </a:endParaRPr>
          </a:p>
          <a:p>
            <a:pPr marL="392430" indent="-210185">
              <a:lnSpc>
                <a:spcPct val="100000"/>
              </a:lnSpc>
              <a:spcBef>
                <a:spcPts val="20"/>
              </a:spcBef>
              <a:buChar char="•"/>
              <a:tabLst>
                <a:tab pos="392430" algn="l"/>
              </a:tabLst>
            </a:pPr>
            <a:r>
              <a:rPr dirty="0" sz="1900" spc="-114">
                <a:latin typeface="Arial MT"/>
                <a:cs typeface="Arial MT"/>
              </a:rPr>
              <a:t>Launch</a:t>
            </a:r>
            <a:r>
              <a:rPr dirty="0" sz="1900" spc="-70">
                <a:latin typeface="Arial MT"/>
                <a:cs typeface="Arial MT"/>
              </a:rPr>
              <a:t> </a:t>
            </a:r>
            <a:r>
              <a:rPr dirty="0" sz="1900" spc="-65">
                <a:latin typeface="Arial MT"/>
                <a:cs typeface="Arial MT"/>
              </a:rPr>
              <a:t>training</a:t>
            </a:r>
            <a:r>
              <a:rPr dirty="0" sz="1900" spc="-15">
                <a:latin typeface="Arial MT"/>
                <a:cs typeface="Arial MT"/>
              </a:rPr>
              <a:t> </a:t>
            </a:r>
            <a:r>
              <a:rPr dirty="0" sz="1900" spc="-50">
                <a:latin typeface="Arial MT"/>
                <a:cs typeface="Arial MT"/>
              </a:rPr>
              <a:t>&amp;</a:t>
            </a:r>
            <a:endParaRPr sz="1900">
              <a:latin typeface="Arial MT"/>
              <a:cs typeface="Arial MT"/>
            </a:endParaRPr>
          </a:p>
          <a:p>
            <a:pPr marL="386080">
              <a:lnSpc>
                <a:spcPct val="100000"/>
              </a:lnSpc>
              <a:spcBef>
                <a:spcPts val="25"/>
              </a:spcBef>
            </a:pPr>
            <a:r>
              <a:rPr dirty="0" sz="1950" spc="-90">
                <a:latin typeface="Arial MT"/>
                <a:cs typeface="Arial MT"/>
              </a:rPr>
              <a:t>certification</a:t>
            </a:r>
            <a:r>
              <a:rPr dirty="0" sz="1950" spc="-50">
                <a:latin typeface="Arial MT"/>
                <a:cs typeface="Arial MT"/>
              </a:rPr>
              <a:t> </a:t>
            </a:r>
            <a:r>
              <a:rPr dirty="0" sz="1950" spc="-10">
                <a:latin typeface="Arial MT"/>
                <a:cs typeface="Arial MT"/>
              </a:rPr>
              <a:t>programs</a:t>
            </a:r>
            <a:endParaRPr sz="1950">
              <a:latin typeface="Arial MT"/>
              <a:cs typeface="Arial MT"/>
            </a:endParaRPr>
          </a:p>
          <a:p>
            <a:pPr marL="397510">
              <a:lnSpc>
                <a:spcPct val="100000"/>
              </a:lnSpc>
              <a:spcBef>
                <a:spcPts val="135"/>
              </a:spcBef>
            </a:pPr>
            <a:r>
              <a:rPr dirty="0" sz="1800" spc="-65">
                <a:latin typeface="Arial MT"/>
                <a:cs typeface="Arial MT"/>
              </a:rPr>
              <a:t>(MeduCare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Academy)</a:t>
            </a:r>
            <a:endParaRPr sz="1800">
              <a:latin typeface="Arial MT"/>
              <a:cs typeface="Arial MT"/>
            </a:endParaRPr>
          </a:p>
          <a:p>
            <a:pPr marL="391160" indent="-208915">
              <a:lnSpc>
                <a:spcPct val="100000"/>
              </a:lnSpc>
              <a:spcBef>
                <a:spcPts val="45"/>
              </a:spcBef>
              <a:buChar char="•"/>
              <a:tabLst>
                <a:tab pos="391160" algn="l"/>
              </a:tabLst>
            </a:pPr>
            <a:r>
              <a:rPr dirty="0" sz="1900" spc="-150">
                <a:latin typeface="Arial MT"/>
                <a:cs typeface="Arial MT"/>
              </a:rPr>
              <a:t>Expand</a:t>
            </a:r>
            <a:r>
              <a:rPr dirty="0" sz="1900" spc="3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MeduAlert</a:t>
            </a:r>
            <a:endParaRPr sz="1900">
              <a:latin typeface="Arial MT"/>
              <a:cs typeface="Arial MT"/>
            </a:endParaRPr>
          </a:p>
          <a:p>
            <a:pPr marL="389255">
              <a:lnSpc>
                <a:spcPct val="100000"/>
              </a:lnSpc>
              <a:spcBef>
                <a:spcPts val="175"/>
              </a:spcBef>
            </a:pPr>
            <a:r>
              <a:rPr dirty="0" sz="1800" spc="-10">
                <a:latin typeface="Arial MT"/>
                <a:cs typeface="Arial MT"/>
              </a:rPr>
              <a:t>services</a:t>
            </a:r>
            <a:endParaRPr sz="1800">
              <a:latin typeface="Arial MT"/>
              <a:cs typeface="Arial MT"/>
            </a:endParaRPr>
          </a:p>
          <a:p>
            <a:pPr marL="388620" marR="16510" indent="-207010">
              <a:lnSpc>
                <a:spcPct val="102600"/>
              </a:lnSpc>
              <a:spcBef>
                <a:spcPts val="10"/>
              </a:spcBef>
              <a:buChar char="•"/>
              <a:tabLst>
                <a:tab pos="388620" algn="l"/>
              </a:tabLst>
            </a:pPr>
            <a:r>
              <a:rPr dirty="0" sz="1850" spc="-45">
                <a:latin typeface="Arial MT"/>
                <a:cs typeface="Arial MT"/>
              </a:rPr>
              <a:t>Introduce</a:t>
            </a:r>
            <a:r>
              <a:rPr dirty="0" sz="1850" spc="-80">
                <a:latin typeface="Arial MT"/>
                <a:cs typeface="Arial MT"/>
              </a:rPr>
              <a:t> </a:t>
            </a:r>
            <a:r>
              <a:rPr dirty="0" sz="1850" spc="-10">
                <a:latin typeface="Arial MT"/>
                <a:cs typeface="Arial MT"/>
              </a:rPr>
              <a:t>freemium </a:t>
            </a:r>
            <a:r>
              <a:rPr dirty="0" sz="1950" spc="-145">
                <a:latin typeface="Arial MT"/>
                <a:cs typeface="Arial MT"/>
              </a:rPr>
              <a:t>models</a:t>
            </a:r>
            <a:r>
              <a:rPr dirty="0" sz="1950" spc="20">
                <a:latin typeface="Arial MT"/>
                <a:cs typeface="Arial MT"/>
              </a:rPr>
              <a:t> </a:t>
            </a:r>
            <a:r>
              <a:rPr dirty="0" sz="1950" spc="-260">
                <a:latin typeface="Arial MT"/>
                <a:cs typeface="Arial MT"/>
              </a:rPr>
              <a:t>&amp;</a:t>
            </a:r>
            <a:r>
              <a:rPr dirty="0" sz="1950" spc="-95">
                <a:latin typeface="Arial MT"/>
                <a:cs typeface="Arial MT"/>
              </a:rPr>
              <a:t> </a:t>
            </a:r>
            <a:r>
              <a:rPr dirty="0" sz="1950" spc="-130">
                <a:latin typeface="Arial MT"/>
                <a:cs typeface="Arial MT"/>
              </a:rPr>
              <a:t>micro-</a:t>
            </a:r>
            <a:r>
              <a:rPr dirty="0" sz="1950" spc="-110">
                <a:latin typeface="Arial MT"/>
                <a:cs typeface="Arial MT"/>
              </a:rPr>
              <a:t>insurance </a:t>
            </a:r>
            <a:r>
              <a:rPr dirty="0" sz="1850" spc="-240">
                <a:latin typeface="Arial MT"/>
                <a:cs typeface="Arial MT"/>
              </a:rPr>
              <a:t>EMS</a:t>
            </a:r>
            <a:r>
              <a:rPr dirty="0" sz="1850" spc="-75">
                <a:latin typeface="Arial MT"/>
                <a:cs typeface="Arial MT"/>
              </a:rPr>
              <a:t> </a:t>
            </a:r>
            <a:r>
              <a:rPr dirty="0" sz="1850" spc="-85">
                <a:latin typeface="Arial MT"/>
                <a:cs typeface="Arial MT"/>
              </a:rPr>
              <a:t>coverages</a:t>
            </a:r>
            <a:r>
              <a:rPr dirty="0" sz="1850" spc="45">
                <a:latin typeface="Arial MT"/>
                <a:cs typeface="Arial MT"/>
              </a:rPr>
              <a:t> </a:t>
            </a:r>
            <a:r>
              <a:rPr dirty="0" sz="1850" spc="-70">
                <a:latin typeface="Arial MT"/>
                <a:cs typeface="Arial MT"/>
              </a:rPr>
              <a:t>for</a:t>
            </a:r>
            <a:r>
              <a:rPr dirty="0" sz="1850" spc="-80">
                <a:latin typeface="Arial MT"/>
                <a:cs typeface="Arial MT"/>
              </a:rPr>
              <a:t> </a:t>
            </a:r>
            <a:r>
              <a:rPr dirty="0" sz="1850" spc="-10">
                <a:latin typeface="Arial MT"/>
                <a:cs typeface="Arial MT"/>
              </a:rPr>
              <a:t>rural </a:t>
            </a:r>
            <a:r>
              <a:rPr dirty="0" sz="1900" spc="-10">
                <a:latin typeface="Arial MT"/>
                <a:cs typeface="Arial MT"/>
              </a:rPr>
              <a:t>India</a:t>
            </a:r>
            <a:endParaRPr sz="1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2066 Suryansh Srivastava</dc:creator>
  <cp:keywords>DAGjehY3Ct4,BAFIPKdAakU,0</cp:keywords>
  <dc:title>Blue and White Simple The Future Of The Arctic Presentation</dc:title>
  <dcterms:created xsi:type="dcterms:W3CDTF">2025-11-24T16:10:34Z</dcterms:created>
  <dcterms:modified xsi:type="dcterms:W3CDTF">2025-11-24T16:10:34Z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2025-04-04T00:00:00Z</vt:filetime>
  </property>
  <property fmtid="{D5CDD505-2E9C-101B-9397-08002B2CF9AE}" pid="3" name="Creator">
    <vt:lpwstr>Canva</vt:lpwstr>
  </property>
  <property fmtid="{D5CDD505-2E9C-101B-9397-08002B2CF9AE}" pid="4" name="Producer">
    <vt:lpwstr>Canva</vt:lpwstr>
  </property>
  <property fmtid="{D5CDD505-2E9C-101B-9397-08002B2CF9AE}" pid="5" name="LastSaved">
    <vt:filetime>2025-04-04T00:00:00Z</vt:filetime>
  </property>
</Properties>
</file>